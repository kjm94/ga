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59" r:id="rId5"/>
    <p:sldId id="261" r:id="rId6"/>
    <p:sldId id="269" r:id="rId7"/>
    <p:sldId id="262" r:id="rId8"/>
    <p:sldId id="264" r:id="rId9"/>
    <p:sldId id="266" r:id="rId10"/>
    <p:sldId id="267" r:id="rId11"/>
    <p:sldId id="270" r:id="rId12"/>
    <p:sldId id="279" r:id="rId13"/>
    <p:sldId id="280" r:id="rId14"/>
    <p:sldId id="274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2A086-0FCD-9EB1-70CE-1B4E39D48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E70FD6-98A5-EE80-3497-CA735A4E0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D43727-6072-DE95-6645-2E60B33B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A35A1-A375-EE5B-B866-34DE74E3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03AFEE-E96B-B6F3-238D-48CB5D82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43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2B062-3D52-E467-65F7-C00D4B5F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5F562-D57A-0D71-913E-A6F7CDBF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AA66D-57A3-CBCD-2B74-D86FD1FE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2499F0-6899-C5F0-CC3D-8A352EE1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9A1389-3527-3221-3A51-D9D9E893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9DA3A-17C7-BBBC-4B72-0797C49A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5AABE-24B8-BDDD-C726-46B879C3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3E570-19A7-DA44-2EED-15F87E9E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E94EC4-366F-3CEA-172F-8B4D7883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654ED-A476-5A1D-0CDE-D673EA02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6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8525F-D0DE-A742-C747-FE9FC1F6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2D792-B1B6-D44C-CC2F-1C11B69AF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696590-0A28-5304-A523-5A5803876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0D5247-51D9-422D-36E1-DEAB2540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A00873-98D1-DD94-AC75-F987B3C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DAFA33-8159-11CD-A2D4-5F2A87F9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57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31E77-8B34-8CE8-64C9-81858190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66148-5B4C-3666-7BD7-1151D422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9A9467-A36B-6195-67A6-8DB4E2012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F4E579-3C4F-7D3A-CA08-0363F8184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5D38CB-FE31-DEAC-DA19-3CB3A9F23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5A54C7-CA54-9373-0082-65D51A1A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DE90D0-EFB9-EDEC-9FC3-89CA6E74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38ACFD-2D11-22E4-831D-37F03825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1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7C837-554C-95AF-D32D-0104DB5E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AFAC099-51CB-5333-1EDA-619C018B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768313-8D9C-3AA5-545F-931F5D8B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060B1C-2B04-2C19-BA55-B6D2A872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16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A2EDB6-2889-88E3-5434-DBFC3ED2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4431C3-D18A-4C75-A144-4629BFCA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6AA6E-1359-2324-D864-9B0B7538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40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1982F-B4E3-2837-3E1D-BE538BBB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896DAA-9210-19D5-2369-DA7BC6408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09E3D-7AF1-FFA4-7738-BA08B5C0F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6B75F2-00B9-3C71-8587-AA868482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61AAEC-86A4-915A-C550-C37B2F43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4DE47B-D7EA-EF93-EC9F-1285A149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59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AA432-F274-E0BE-2B4B-FB994921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8767AD-8F0D-0B0B-5740-A82BB7C8C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28C1BA-2652-61EC-39FA-35490A22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7127E7-D01F-4055-66A0-1D595DD8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F4F4C1-91AD-8652-F480-C14E1D9B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76E4D4-FBB9-F3E3-D399-68C6B16D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66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B92A3-317B-EAB9-8D1B-3005F6C9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D62A1-0DB4-F67F-0043-0548C9963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55811-51D0-BD60-F9EB-A239C657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C2C6C4-E54D-39C4-A183-DC8454C3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21D66-9C8D-D9BE-96A7-9373053B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4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F2EECC-140E-DC6F-6079-AAF470970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D34C05-B6E3-2BCE-8CC5-73917DB7C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C8B025-DA2C-16C5-C34B-C7A40ED9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1BCBBE-EFA9-83B6-8222-B35E5CFB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D845E-1DD9-8F66-6FE2-E3A927FE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2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7CB96B-68B2-2DBF-5B22-70BF9BB4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B0B6AD-A177-2A42-5818-23219F949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5FA95-DCFA-2B1C-A93D-847A627BD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6E5B-CD4D-4929-A6B6-9D918BE50B98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03EF94-34CF-8A17-5674-D9E95B482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0B10F-7138-4393-07DB-8A2D636D0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F79C5-FD72-4CF9-9AC2-76BA65B7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49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648FA3-3A0F-69E7-C9A8-4856141B3C21}"/>
              </a:ext>
            </a:extLst>
          </p:cNvPr>
          <p:cNvSpPr txBox="1"/>
          <p:nvPr/>
        </p:nvSpPr>
        <p:spPr>
          <a:xfrm>
            <a:off x="839755" y="2525877"/>
            <a:ext cx="10758196" cy="147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/>
              <a:t>OOO </a:t>
            </a:r>
            <a:r>
              <a:rPr lang="ko-KR" altLang="en-US" sz="3200" b="1" dirty="0"/>
              <a:t>게임 업데이트 성과 분석 및 전략 제언</a:t>
            </a:r>
            <a:endParaRPr lang="en-US" altLang="ko-KR" sz="3200" b="1" dirty="0"/>
          </a:p>
          <a:p>
            <a:pPr algn="ctr">
              <a:lnSpc>
                <a:spcPct val="150000"/>
              </a:lnSpc>
            </a:pPr>
            <a:r>
              <a:rPr lang="ko-KR" altLang="en-US" sz="3200" dirty="0" err="1"/>
              <a:t>권정민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412993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E124CE-BF75-95EE-F95C-919344E2012A}"/>
              </a:ext>
            </a:extLst>
          </p:cNvPr>
          <p:cNvSpPr txBox="1"/>
          <p:nvPr/>
        </p:nvSpPr>
        <p:spPr>
          <a:xfrm>
            <a:off x="4154066" y="1200930"/>
            <a:ext cx="3883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업데이트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가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분석 </a:t>
            </a:r>
            <a:r>
              <a:rPr lang="en-US" altLang="ko-KR" sz="2400" b="1" dirty="0"/>
              <a:t>(D+12)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91484-9919-099B-C31B-B1C63AF146F6}"/>
              </a:ext>
            </a:extLst>
          </p:cNvPr>
          <p:cNvSpPr txBox="1"/>
          <p:nvPr/>
        </p:nvSpPr>
        <p:spPr>
          <a:xfrm>
            <a:off x="604157" y="2189976"/>
            <a:ext cx="1013537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신규</a:t>
            </a:r>
            <a:r>
              <a:rPr lang="en-US" altLang="ko-KR" dirty="0"/>
              <a:t>/</a:t>
            </a:r>
            <a:r>
              <a:rPr lang="ko-KR" altLang="en-US" dirty="0"/>
              <a:t>복귀 유저의 대규모 유입을 이끈 업데이트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업데이트 직후 </a:t>
            </a:r>
            <a:r>
              <a:rPr lang="en-US" altLang="ko-KR" b="1" dirty="0"/>
              <a:t>DAU, </a:t>
            </a:r>
            <a:r>
              <a:rPr lang="ko-KR" altLang="en-US" b="1" dirty="0"/>
              <a:t>신규 유저</a:t>
            </a:r>
            <a:r>
              <a:rPr lang="en-US" altLang="ko-KR" b="1" dirty="0"/>
              <a:t>, </a:t>
            </a:r>
            <a:r>
              <a:rPr lang="ko-KR" altLang="en-US" b="1" dirty="0"/>
              <a:t>복귀 유저</a:t>
            </a:r>
            <a:r>
              <a:rPr lang="ko-KR" altLang="en-US" dirty="0"/>
              <a:t> 수가 크게 증가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대규모 콘텐츠 추가 또는 대대적인 신규 이벤트가 동반된 업데이트로 추정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7EAFD36-54B7-F396-5974-84EE67E22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21401"/>
              </p:ext>
            </p:extLst>
          </p:nvPr>
        </p:nvGraphicFramePr>
        <p:xfrm>
          <a:off x="1398036" y="3724173"/>
          <a:ext cx="9455467" cy="2103120"/>
        </p:xfrm>
        <a:graphic>
          <a:graphicData uri="http://schemas.openxmlformats.org/drawingml/2006/table">
            <a:tbl>
              <a:tblPr/>
              <a:tblGrid>
                <a:gridCol w="1568767">
                  <a:extLst>
                    <a:ext uri="{9D8B030D-6E8A-4147-A177-3AD203B41FA5}">
                      <a16:colId xmlns:a16="http://schemas.microsoft.com/office/drawing/2014/main" val="12673579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69297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88794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63580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업데이트 전 </a:t>
                      </a:r>
                      <a:r>
                        <a:rPr lang="en-US" altLang="ko-KR"/>
                        <a:t>(D+5 ~ D+11) </a:t>
                      </a:r>
                      <a:r>
                        <a:rPr lang="ko-KR" altLang="en-US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업데이트 후 </a:t>
                      </a:r>
                      <a:r>
                        <a:rPr lang="en-US" altLang="ko-KR"/>
                        <a:t>(D+12 ~ D+18) </a:t>
                      </a:r>
                      <a:r>
                        <a:rPr lang="ko-KR" altLang="en-US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증감률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89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430,967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557,364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+29.3%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083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신규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5,689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15,286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+168.7%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86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복귀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9,907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28,187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+184.5%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1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총 결제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215,708,007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449,634,034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+108.4%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08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24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3F7AC54-AD63-021B-1E52-0D385F5D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9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9D096CF-6065-CF90-DD10-EE5AF26A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51939"/>
            <a:ext cx="12192000" cy="4906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F1AAA-22C4-A078-E472-8C29B0EE6FFC}"/>
              </a:ext>
            </a:extLst>
          </p:cNvPr>
          <p:cNvSpPr txBox="1"/>
          <p:nvPr/>
        </p:nvSpPr>
        <p:spPr>
          <a:xfrm>
            <a:off x="884076" y="137237"/>
            <a:ext cx="1439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매출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0540E-334D-7F63-91AB-FA5BB06672FC}"/>
              </a:ext>
            </a:extLst>
          </p:cNvPr>
          <p:cNvSpPr txBox="1"/>
          <p:nvPr/>
        </p:nvSpPr>
        <p:spPr>
          <a:xfrm>
            <a:off x="604157" y="463801"/>
            <a:ext cx="1013537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모든 그룹의 결제가 증가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PU(</a:t>
            </a:r>
            <a:r>
              <a:rPr lang="ko-KR" altLang="en-US" dirty="0"/>
              <a:t>결제 유저</a:t>
            </a:r>
            <a:r>
              <a:rPr lang="en-US" altLang="ko-KR" dirty="0"/>
              <a:t>) </a:t>
            </a:r>
            <a:r>
              <a:rPr lang="ko-KR" altLang="en-US" dirty="0"/>
              <a:t>수가 가장 많은 그룹은 </a:t>
            </a:r>
            <a:r>
              <a:rPr lang="en-US" altLang="ko-KR" b="1" dirty="0"/>
              <a:t>A</a:t>
            </a:r>
            <a:r>
              <a:rPr lang="ko-KR" altLang="en-US" b="1" dirty="0"/>
              <a:t>그룹</a:t>
            </a:r>
            <a:r>
              <a:rPr lang="ko-KR" altLang="en-US" dirty="0"/>
              <a:t>의 </a:t>
            </a:r>
            <a:r>
              <a:rPr lang="ko-KR" altLang="en-US" b="1" dirty="0"/>
              <a:t>결제 금액 </a:t>
            </a:r>
            <a:r>
              <a:rPr lang="ko-KR" altLang="en-US" b="1" dirty="0" err="1"/>
              <a:t>증가폭</a:t>
            </a:r>
            <a:r>
              <a:rPr lang="en-US" altLang="ko-KR" b="1" dirty="0"/>
              <a:t>(</a:t>
            </a:r>
            <a:r>
              <a:rPr lang="ko-KR" altLang="en-US" b="1" dirty="0"/>
              <a:t>약 </a:t>
            </a:r>
            <a:r>
              <a:rPr lang="en-US" altLang="ko-KR" b="1" dirty="0"/>
              <a:t>+277%)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신규</a:t>
            </a:r>
            <a:r>
              <a:rPr lang="en-US" altLang="ko-KR" dirty="0"/>
              <a:t>/</a:t>
            </a:r>
            <a:r>
              <a:rPr lang="ko-KR" altLang="en-US" dirty="0"/>
              <a:t>복귀 유저가 상대적으로 가성비 상품 위주로 구매하며 </a:t>
            </a:r>
            <a:r>
              <a:rPr lang="en-US" altLang="ko-KR" dirty="0"/>
              <a:t>A</a:t>
            </a:r>
            <a:r>
              <a:rPr lang="ko-KR" altLang="en-US" dirty="0"/>
              <a:t>그룹에 편입된 것으로 추정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9973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1F16-B3EB-E2E0-C017-7222F34E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992E41-0920-EE75-BF79-1ECEBB9078B2}"/>
              </a:ext>
            </a:extLst>
          </p:cNvPr>
          <p:cNvSpPr txBox="1"/>
          <p:nvPr/>
        </p:nvSpPr>
        <p:spPr>
          <a:xfrm>
            <a:off x="4154066" y="407828"/>
            <a:ext cx="3883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업데이트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나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분석 </a:t>
            </a:r>
            <a:r>
              <a:rPr lang="en-US" altLang="ko-KR" sz="2400" b="1" dirty="0"/>
              <a:t>(D+47)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EC628-75D7-62A2-1F08-1CD1F88A2B78}"/>
              </a:ext>
            </a:extLst>
          </p:cNvPr>
          <p:cNvSpPr txBox="1"/>
          <p:nvPr/>
        </p:nvSpPr>
        <p:spPr>
          <a:xfrm>
            <a:off x="604157" y="1396874"/>
            <a:ext cx="10135378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DAU, </a:t>
            </a:r>
            <a:r>
              <a:rPr lang="ko-KR" altLang="en-US" dirty="0"/>
              <a:t>신규</a:t>
            </a:r>
            <a:r>
              <a:rPr lang="en-US" altLang="ko-KR" dirty="0"/>
              <a:t>/</a:t>
            </a:r>
            <a:r>
              <a:rPr lang="ko-KR" altLang="en-US" dirty="0"/>
              <a:t>복귀 유저의 증가는 상대적으로 미미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ARPPU(</a:t>
            </a:r>
            <a:r>
              <a:rPr lang="ko-KR" altLang="en-US" dirty="0"/>
              <a:t>유료 유저 평균 결제 금액</a:t>
            </a:r>
            <a:r>
              <a:rPr lang="en-US" altLang="ko-KR" dirty="0"/>
              <a:t>)</a:t>
            </a:r>
            <a:r>
              <a:rPr lang="ko-KR" altLang="en-US" dirty="0"/>
              <a:t> 상승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D+47</a:t>
            </a:r>
            <a:r>
              <a:rPr lang="ko-KR" altLang="en-US" b="1" dirty="0"/>
              <a:t> 당일 총 매출액 </a:t>
            </a:r>
            <a:r>
              <a:rPr lang="en-US" altLang="ko-KR" b="1" dirty="0"/>
              <a:t>33.8</a:t>
            </a:r>
            <a:r>
              <a:rPr lang="ko-KR" altLang="en-US" b="1" dirty="0"/>
              <a:t>억 원 달성</a:t>
            </a:r>
            <a:r>
              <a:rPr lang="en-US" altLang="ko-KR" dirty="0"/>
              <a:t>(</a:t>
            </a:r>
            <a:r>
              <a:rPr lang="ko-KR" altLang="en-US" dirty="0"/>
              <a:t>업데이트 전 평균</a:t>
            </a:r>
            <a:r>
              <a:rPr lang="en-US" altLang="ko-KR" dirty="0"/>
              <a:t>(∼2.6</a:t>
            </a:r>
            <a:r>
              <a:rPr lang="ko-KR" altLang="en-US" dirty="0"/>
              <a:t>억 원</a:t>
            </a:r>
            <a:r>
              <a:rPr lang="en-US" altLang="ko-KR" dirty="0"/>
              <a:t>) </a:t>
            </a:r>
            <a:r>
              <a:rPr lang="ko-KR" altLang="en-US" dirty="0"/>
              <a:t>대비 </a:t>
            </a:r>
            <a:r>
              <a:rPr lang="ko-KR" altLang="en-US" b="1" dirty="0"/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1,200%</a:t>
            </a:r>
            <a:r>
              <a:rPr lang="en-US" altLang="ko-KR" b="1" dirty="0"/>
              <a:t> </a:t>
            </a:r>
            <a:r>
              <a:rPr lang="ko-KR" altLang="en-US" b="1" dirty="0"/>
              <a:t>이상 증가</a:t>
            </a:r>
            <a:r>
              <a:rPr lang="en-US" altLang="ko-KR" b="1" dirty="0"/>
              <a:t>)</a:t>
            </a:r>
            <a:endParaRPr lang="ko-KR" alt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AF44DF-C10B-A8FA-5C09-8A7B110D6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73173"/>
              </p:ext>
            </p:extLst>
          </p:nvPr>
        </p:nvGraphicFramePr>
        <p:xfrm>
          <a:off x="604157" y="3465717"/>
          <a:ext cx="10947144" cy="2103120"/>
        </p:xfrm>
        <a:graphic>
          <a:graphicData uri="http://schemas.openxmlformats.org/drawingml/2006/table">
            <a:tbl>
              <a:tblPr/>
              <a:tblGrid>
                <a:gridCol w="2736786">
                  <a:extLst>
                    <a:ext uri="{9D8B030D-6E8A-4147-A177-3AD203B41FA5}">
                      <a16:colId xmlns:a16="http://schemas.microsoft.com/office/drawing/2014/main" val="485445957"/>
                    </a:ext>
                  </a:extLst>
                </a:gridCol>
                <a:gridCol w="2736786">
                  <a:extLst>
                    <a:ext uri="{9D8B030D-6E8A-4147-A177-3AD203B41FA5}">
                      <a16:colId xmlns:a16="http://schemas.microsoft.com/office/drawing/2014/main" val="2076964444"/>
                    </a:ext>
                  </a:extLst>
                </a:gridCol>
                <a:gridCol w="2736786">
                  <a:extLst>
                    <a:ext uri="{9D8B030D-6E8A-4147-A177-3AD203B41FA5}">
                      <a16:colId xmlns:a16="http://schemas.microsoft.com/office/drawing/2014/main" val="343641933"/>
                    </a:ext>
                  </a:extLst>
                </a:gridCol>
                <a:gridCol w="2736786">
                  <a:extLst>
                    <a:ext uri="{9D8B030D-6E8A-4147-A177-3AD203B41FA5}">
                      <a16:colId xmlns:a16="http://schemas.microsoft.com/office/drawing/2014/main" val="339922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업데이트 전 </a:t>
                      </a:r>
                      <a:r>
                        <a:rPr lang="en-US" altLang="ko-KR" dirty="0"/>
                        <a:t>(D+40 ~ D+46) </a:t>
                      </a:r>
                      <a:r>
                        <a:rPr lang="ko-KR" altLang="en-US" b="1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업데이트 후 </a:t>
                      </a:r>
                      <a:r>
                        <a:rPr lang="en-US" altLang="ko-KR" dirty="0"/>
                        <a:t>(D+47 ~ D+53) </a:t>
                      </a:r>
                      <a:r>
                        <a:rPr lang="ko-KR" altLang="en-US" b="1" dirty="0"/>
                        <a:t>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증감률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31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559,375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606,233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+8.4%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12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신규 유저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7,100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11,489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+61.8%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832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i-FI" dirty="0"/>
                        <a:t>ARPPU </a:t>
                      </a:r>
                      <a:r>
                        <a:rPr lang="fi-FI" b="1" dirty="0"/>
                        <a:t>(D+46 vs D+47)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18,654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60,076 </a:t>
                      </a:r>
                      <a:r>
                        <a:rPr lang="en-US" b="1" dirty="0"/>
                        <a:t>(D+47)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+222.0%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796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총 결제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260,323,617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/>
                        <a:t>682,789,140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+162.3%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53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47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47036D6-041E-1749-9B2F-208D802A0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8E5B-B5B0-A151-77D5-870ED5B9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0EA56AE-AA23-0E83-3CEB-29CF5518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3250"/>
            <a:ext cx="12192000" cy="4674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8F7E26-AF5D-1A71-0822-AC0DF7C6F448}"/>
              </a:ext>
            </a:extLst>
          </p:cNvPr>
          <p:cNvSpPr txBox="1"/>
          <p:nvPr/>
        </p:nvSpPr>
        <p:spPr>
          <a:xfrm>
            <a:off x="884076" y="137237"/>
            <a:ext cx="1439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매출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36DC5-5A00-8790-147E-38EEB74128F8}"/>
              </a:ext>
            </a:extLst>
          </p:cNvPr>
          <p:cNvSpPr txBox="1"/>
          <p:nvPr/>
        </p:nvSpPr>
        <p:spPr>
          <a:xfrm>
            <a:off x="410547" y="482463"/>
            <a:ext cx="11430000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B</a:t>
            </a:r>
            <a:r>
              <a:rPr lang="ko-KR" altLang="en-US" b="1" dirty="0"/>
              <a:t>그룹과 </a:t>
            </a:r>
            <a:r>
              <a:rPr lang="en-US" altLang="ko-KR" b="1" dirty="0"/>
              <a:t>C</a:t>
            </a:r>
            <a:r>
              <a:rPr lang="ko-KR" altLang="en-US" b="1" dirty="0"/>
              <a:t>그룹</a:t>
            </a:r>
            <a:r>
              <a:rPr lang="ko-KR" altLang="en-US" dirty="0"/>
              <a:t>의 결제 금액이 업데이트 이후</a:t>
            </a:r>
            <a:r>
              <a:rPr lang="en-US" altLang="ko-KR" dirty="0"/>
              <a:t>(D+47~) </a:t>
            </a:r>
            <a:r>
              <a:rPr lang="ko-KR" altLang="en-US" b="1" dirty="0"/>
              <a:t>전체 매출의 약 </a:t>
            </a:r>
            <a:r>
              <a:rPr lang="en-US" altLang="ko-KR" b="1" dirty="0"/>
              <a:t>77%</a:t>
            </a:r>
            <a:r>
              <a:rPr lang="ko-KR" altLang="en-US" dirty="0"/>
              <a:t>를 차지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B</a:t>
            </a:r>
            <a:r>
              <a:rPr lang="ko-KR" altLang="en-US" b="1" dirty="0"/>
              <a:t>그룹 매출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D+46 (3.6</a:t>
            </a:r>
            <a:r>
              <a:rPr lang="ko-KR" altLang="en-US" dirty="0"/>
              <a:t>천만 원</a:t>
            </a:r>
            <a:r>
              <a:rPr lang="en-US" altLang="ko-KR" dirty="0"/>
              <a:t>) → D+47 (11</a:t>
            </a:r>
            <a:r>
              <a:rPr lang="ko-KR" altLang="en-US" dirty="0"/>
              <a:t>억 원</a:t>
            </a:r>
            <a:r>
              <a:rPr lang="en-US" altLang="ko-KR" dirty="0"/>
              <a:t>), </a:t>
            </a:r>
            <a:r>
              <a:rPr lang="ko-KR" altLang="en-US" b="1" dirty="0"/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31.4</a:t>
            </a:r>
            <a:r>
              <a:rPr lang="ko-KR" altLang="en-US" b="1" dirty="0">
                <a:solidFill>
                  <a:srgbClr val="FF0000"/>
                </a:solidFill>
              </a:rPr>
              <a:t>배</a:t>
            </a:r>
            <a:r>
              <a:rPr lang="ko-KR" altLang="en-US" b="1" dirty="0"/>
              <a:t> 증가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C</a:t>
            </a:r>
            <a:r>
              <a:rPr lang="ko-KR" altLang="en-US" b="1" dirty="0"/>
              <a:t>그룹 매출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D+46 (4</a:t>
            </a:r>
            <a:r>
              <a:rPr lang="ko-KR" altLang="en-US" dirty="0"/>
              <a:t>천만 원</a:t>
            </a:r>
            <a:r>
              <a:rPr lang="en-US" altLang="ko-KR" dirty="0"/>
              <a:t>) → D+47 (16</a:t>
            </a:r>
            <a:r>
              <a:rPr lang="ko-KR" altLang="en-US" dirty="0"/>
              <a:t>억 원</a:t>
            </a:r>
            <a:r>
              <a:rPr lang="en-US" altLang="ko-KR" dirty="0"/>
              <a:t>), </a:t>
            </a:r>
            <a:r>
              <a:rPr lang="ko-KR" altLang="en-US" b="1" dirty="0"/>
              <a:t>약 </a:t>
            </a:r>
            <a:r>
              <a:rPr lang="en-US" altLang="ko-KR" b="1" dirty="0">
                <a:solidFill>
                  <a:srgbClr val="FF0000"/>
                </a:solidFill>
              </a:rPr>
              <a:t>38.7</a:t>
            </a:r>
            <a:r>
              <a:rPr lang="ko-KR" altLang="en-US" b="1" dirty="0">
                <a:solidFill>
                  <a:srgbClr val="FF0000"/>
                </a:solidFill>
              </a:rPr>
              <a:t>배</a:t>
            </a:r>
            <a:r>
              <a:rPr lang="ko-KR" altLang="en-US" b="1" dirty="0"/>
              <a:t> 증가</a:t>
            </a:r>
          </a:p>
        </p:txBody>
      </p:sp>
    </p:spTree>
    <p:extLst>
      <p:ext uri="{BB962C8B-B14F-4D97-AF65-F5344CB8AC3E}">
        <p14:creationId xmlns:p14="http://schemas.microsoft.com/office/powerpoint/2010/main" val="35812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A7EB34C-2BFF-D53C-6196-220E00A59D53}"/>
              </a:ext>
            </a:extLst>
          </p:cNvPr>
          <p:cNvSpPr txBox="1"/>
          <p:nvPr/>
        </p:nvSpPr>
        <p:spPr>
          <a:xfrm>
            <a:off x="838199" y="4135120"/>
            <a:ext cx="10515599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결론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업데이트는 </a:t>
            </a:r>
            <a:r>
              <a:rPr lang="ko-KR" altLang="en-US" b="1" dirty="0"/>
              <a:t>성격과 목표가 명확히 다른 성공적인 업데이트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가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DAU</a:t>
            </a:r>
            <a:r>
              <a:rPr lang="ko-KR" altLang="en-US" dirty="0"/>
              <a:t>를 증가시킨 후 유지하여 </a:t>
            </a:r>
            <a:r>
              <a:rPr lang="ko-KR" altLang="en-US" b="1" dirty="0"/>
              <a:t>안정적인 기반 마련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나</a:t>
            </a:r>
            <a:r>
              <a:rPr lang="en-US" altLang="ko-KR" dirty="0"/>
              <a:t>)</a:t>
            </a:r>
            <a:r>
              <a:rPr lang="ko-KR" altLang="en-US" dirty="0"/>
              <a:t>는 그 유저풀에서 </a:t>
            </a:r>
            <a:r>
              <a:rPr lang="ko-KR" altLang="en-US" b="1" dirty="0"/>
              <a:t>수익성을 증가시키는 역할 </a:t>
            </a:r>
            <a:r>
              <a:rPr lang="ko-KR" altLang="en-US" dirty="0"/>
              <a:t>수행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7280246-AB99-4D26-DCF2-36C8FBC9E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24058"/>
              </p:ext>
            </p:extLst>
          </p:nvPr>
        </p:nvGraphicFramePr>
        <p:xfrm>
          <a:off x="1371599" y="824223"/>
          <a:ext cx="9529333" cy="2651760"/>
        </p:xfrm>
        <a:graphic>
          <a:graphicData uri="http://schemas.openxmlformats.org/drawingml/2006/table">
            <a:tbl>
              <a:tblPr/>
              <a:tblGrid>
                <a:gridCol w="1797367">
                  <a:extLst>
                    <a:ext uri="{9D8B030D-6E8A-4147-A177-3AD203B41FA5}">
                      <a16:colId xmlns:a16="http://schemas.microsoft.com/office/drawing/2014/main" val="3742126895"/>
                    </a:ext>
                  </a:extLst>
                </a:gridCol>
                <a:gridCol w="3865983">
                  <a:extLst>
                    <a:ext uri="{9D8B030D-6E8A-4147-A177-3AD203B41FA5}">
                      <a16:colId xmlns:a16="http://schemas.microsoft.com/office/drawing/2014/main" val="4217819116"/>
                    </a:ext>
                  </a:extLst>
                </a:gridCol>
                <a:gridCol w="3865983">
                  <a:extLst>
                    <a:ext uri="{9D8B030D-6E8A-4147-A177-3AD203B41FA5}">
                      <a16:colId xmlns:a16="http://schemas.microsoft.com/office/drawing/2014/main" val="989394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업데이트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가</a:t>
                      </a:r>
                      <a:r>
                        <a:rPr lang="en-US" altLang="ko-KR"/>
                        <a:t>) (</a:t>
                      </a:r>
                      <a:r>
                        <a:rPr lang="en-US"/>
                        <a:t>D+12)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업데이트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나</a:t>
                      </a:r>
                      <a:r>
                        <a:rPr lang="en-US" altLang="ko-KR"/>
                        <a:t>) (</a:t>
                      </a:r>
                      <a:r>
                        <a:rPr lang="en-US"/>
                        <a:t>D+47)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069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목표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신규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복귀 유저 유입 </a:t>
                      </a:r>
                      <a:r>
                        <a:rPr lang="en-US" altLang="ko-KR" dirty="0"/>
                        <a:t>&amp; DAU </a:t>
                      </a:r>
                      <a:r>
                        <a:rPr lang="ko-KR" altLang="en-US" dirty="0"/>
                        <a:t>상승 및 안착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B/C</a:t>
                      </a:r>
                      <a:r>
                        <a:rPr lang="ko-KR" altLang="en-US" dirty="0"/>
                        <a:t> 그룹 매출 상승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수익 극대화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60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핵심 성과 지표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DAU</a:t>
                      </a:r>
                      <a:r>
                        <a:rPr lang="ko-KR" altLang="en-US" dirty="0"/>
                        <a:t>의 높은 수준 안정화</a:t>
                      </a:r>
                      <a:r>
                        <a:rPr lang="en-US" altLang="ko-KR" dirty="0"/>
                        <a:t>, A</a:t>
                      </a:r>
                      <a:r>
                        <a:rPr lang="ko-KR" altLang="en-US" dirty="0"/>
                        <a:t>그룹 매출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/>
                        <a:t>B/C</a:t>
                      </a:r>
                      <a:r>
                        <a:rPr lang="ko-KR" altLang="en-US" b="1" dirty="0"/>
                        <a:t>그룹 매출</a:t>
                      </a:r>
                      <a:r>
                        <a:rPr lang="en-US" altLang="ko-KR" b="1" dirty="0"/>
                        <a:t>, ARPPU </a:t>
                      </a:r>
                      <a:r>
                        <a:rPr lang="ko-KR" altLang="en-US" b="1" dirty="0"/>
                        <a:t>급증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01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/>
                        <a:t>주요 타겟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신규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복귀 유저</a:t>
                      </a:r>
                      <a:r>
                        <a:rPr lang="en-US" altLang="ko-KR" dirty="0"/>
                        <a:t>, A</a:t>
                      </a:r>
                      <a:r>
                        <a:rPr lang="ko-KR" altLang="en-US" dirty="0"/>
                        <a:t>그룹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B</a:t>
                      </a:r>
                      <a:r>
                        <a:rPr lang="ko-KR" altLang="en-US" dirty="0"/>
                        <a:t>그룹</a:t>
                      </a:r>
                      <a:r>
                        <a:rPr lang="en-US" altLang="ko-KR" dirty="0"/>
                        <a:t>, C</a:t>
                      </a:r>
                      <a:r>
                        <a:rPr lang="ko-KR" altLang="en-US" dirty="0"/>
                        <a:t>그룹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67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효과 및 기대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DAU</a:t>
                      </a:r>
                      <a:r>
                        <a:rPr lang="ko-KR" altLang="en-US" dirty="0"/>
                        <a:t>를 높은 수준으로 </a:t>
                      </a:r>
                      <a:r>
                        <a:rPr lang="ko-KR" altLang="en-US" dirty="0" err="1"/>
                        <a:t>안착시키며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b="1" dirty="0"/>
                        <a:t>기반 </a:t>
                      </a:r>
                      <a:r>
                        <a:rPr lang="ko-KR" altLang="en-US" b="1" dirty="0" err="1"/>
                        <a:t>유저층</a:t>
                      </a:r>
                      <a:r>
                        <a:rPr lang="ko-KR" altLang="en-US" b="1" dirty="0"/>
                        <a:t> 확대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높은 매출 효율 달성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기존 충성 유저의 높은 </a:t>
                      </a:r>
                      <a:r>
                        <a:rPr lang="ko-KR" altLang="en-US" dirty="0" err="1"/>
                        <a:t>과금력</a:t>
                      </a:r>
                      <a:r>
                        <a:rPr lang="ko-KR" altLang="en-US" dirty="0"/>
                        <a:t>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1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03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D5876-6EEC-6C87-D7D6-F102DADD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009DC-1BDA-3674-8592-CC1A9240B94D}"/>
              </a:ext>
            </a:extLst>
          </p:cNvPr>
          <p:cNvSpPr txBox="1"/>
          <p:nvPr/>
        </p:nvSpPr>
        <p:spPr>
          <a:xfrm>
            <a:off x="2213296" y="1676792"/>
            <a:ext cx="3883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/>
              <a:t>핵심 동력 </a:t>
            </a:r>
            <a:r>
              <a:rPr lang="en-US" altLang="ko-KR" sz="2400" b="1" dirty="0"/>
              <a:t>C </a:t>
            </a:r>
            <a:r>
              <a:rPr lang="ko-KR" altLang="en-US" sz="2400" b="1" dirty="0"/>
              <a:t>그룹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21C14-0400-06D7-692F-C997833FF982}"/>
              </a:ext>
            </a:extLst>
          </p:cNvPr>
          <p:cNvSpPr txBox="1"/>
          <p:nvPr/>
        </p:nvSpPr>
        <p:spPr>
          <a:xfrm>
            <a:off x="352224" y="2407605"/>
            <a:ext cx="6944309" cy="211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C</a:t>
            </a:r>
            <a:r>
              <a:rPr lang="ko-KR" altLang="en-US" b="1" dirty="0"/>
              <a:t>그룹의 압도적인 매출 기여도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후반부</a:t>
            </a:r>
            <a:r>
              <a:rPr lang="en-US" altLang="ko-KR" dirty="0"/>
              <a:t>(D+60 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r>
              <a:rPr lang="ko-KR" altLang="en-US" dirty="0"/>
              <a:t>로 갈수록 </a:t>
            </a:r>
            <a:r>
              <a:rPr lang="en-US" altLang="ko-KR" b="1" dirty="0"/>
              <a:t>C</a:t>
            </a:r>
            <a:r>
              <a:rPr lang="ko-KR" altLang="en-US" b="1" dirty="0"/>
              <a:t>그룹</a:t>
            </a:r>
            <a:r>
              <a:rPr lang="ko-KR" altLang="en-US" dirty="0"/>
              <a:t>은 전체 매출의 </a:t>
            </a:r>
            <a:r>
              <a:rPr lang="ko-KR" altLang="en-US" b="1" dirty="0"/>
              <a:t>절반 수준 내외를</a:t>
            </a:r>
            <a:r>
              <a:rPr lang="ko-KR" altLang="en-US" dirty="0"/>
              <a:t> 차지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D+73 </a:t>
            </a:r>
            <a:r>
              <a:rPr lang="ko-KR" altLang="en-US" dirty="0"/>
              <a:t>기준</a:t>
            </a:r>
            <a:r>
              <a:rPr lang="en-US" altLang="ko-KR" dirty="0"/>
              <a:t>, </a:t>
            </a:r>
            <a:r>
              <a:rPr lang="en-US" altLang="ko-KR" b="1" dirty="0"/>
              <a:t>C</a:t>
            </a:r>
            <a:r>
              <a:rPr lang="ko-KR" altLang="en-US" b="1" dirty="0"/>
              <a:t>그룹 결제 금액은 </a:t>
            </a:r>
            <a:r>
              <a:rPr lang="en-US" altLang="ko-KR" b="1" dirty="0"/>
              <a:t>2.32</a:t>
            </a:r>
            <a:r>
              <a:rPr lang="ko-KR" altLang="en-US" b="1" dirty="0"/>
              <a:t>억 원</a:t>
            </a:r>
            <a:r>
              <a:rPr lang="ko-KR" altLang="en-US" dirty="0"/>
              <a:t>으로 </a:t>
            </a:r>
            <a:r>
              <a:rPr lang="ko-KR" altLang="en-US" b="1" dirty="0"/>
              <a:t>전체 매출</a:t>
            </a:r>
            <a:r>
              <a:rPr lang="en-US" altLang="ko-KR" b="1" dirty="0"/>
              <a:t>(4.45</a:t>
            </a:r>
            <a:r>
              <a:rPr lang="ko-KR" altLang="en-US" b="1" dirty="0"/>
              <a:t>억 원</a:t>
            </a:r>
            <a:r>
              <a:rPr lang="en-US" altLang="ko-KR" b="1" dirty="0"/>
              <a:t>)</a:t>
            </a:r>
            <a:r>
              <a:rPr lang="ko-KR" altLang="en-US" b="1" dirty="0"/>
              <a:t>의 </a:t>
            </a:r>
            <a:r>
              <a:rPr lang="en-US" altLang="ko-KR" b="1" dirty="0"/>
              <a:t>52%</a:t>
            </a:r>
            <a:r>
              <a:rPr lang="ko-KR" altLang="en-US" b="1" dirty="0"/>
              <a:t>를 차지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2395A6-2B68-2341-B2CF-FF6C1F6C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533" y="1358458"/>
            <a:ext cx="4895467" cy="482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1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E596E8-8FAD-8D7A-2767-7DB9AA74E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00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6D408A-94EA-A074-2355-FB8C8C87D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025"/>
              </p:ext>
            </p:extLst>
          </p:nvPr>
        </p:nvGraphicFramePr>
        <p:xfrm>
          <a:off x="1054365" y="1069846"/>
          <a:ext cx="10113876" cy="4935376"/>
        </p:xfrm>
        <a:graphic>
          <a:graphicData uri="http://schemas.openxmlformats.org/drawingml/2006/table">
            <a:tbl>
              <a:tblPr/>
              <a:tblGrid>
                <a:gridCol w="2257502">
                  <a:extLst>
                    <a:ext uri="{9D8B030D-6E8A-4147-A177-3AD203B41FA5}">
                      <a16:colId xmlns:a16="http://schemas.microsoft.com/office/drawing/2014/main" val="435881012"/>
                    </a:ext>
                  </a:extLst>
                </a:gridCol>
                <a:gridCol w="3928187">
                  <a:extLst>
                    <a:ext uri="{9D8B030D-6E8A-4147-A177-3AD203B41FA5}">
                      <a16:colId xmlns:a16="http://schemas.microsoft.com/office/drawing/2014/main" val="1515426278"/>
                    </a:ext>
                  </a:extLst>
                </a:gridCol>
                <a:gridCol w="3928187">
                  <a:extLst>
                    <a:ext uri="{9D8B030D-6E8A-4147-A177-3AD203B41FA5}">
                      <a16:colId xmlns:a16="http://schemas.microsoft.com/office/drawing/2014/main" val="1979724528"/>
                    </a:ext>
                  </a:extLst>
                </a:gridCol>
              </a:tblGrid>
              <a:tr h="2556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/>
                        <a:t>세부 내용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/>
                        <a:t>기대 효과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585578"/>
                  </a:ext>
                </a:extLst>
              </a:tr>
              <a:tr h="12142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최상위 콘텐츠</a:t>
                      </a:r>
                      <a:endParaRPr lang="ko-KR" altLang="en-US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신규 레이드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전투력 포인트 기반 랭킹</a:t>
                      </a:r>
                      <a:r>
                        <a:rPr lang="en-US" altLang="ko-KR" sz="1800" b="1" dirty="0"/>
                        <a:t> </a:t>
                      </a:r>
                      <a:r>
                        <a:rPr lang="ko-KR" altLang="en-US" sz="1800" b="1" dirty="0" err="1"/>
                        <a:t>시즌제</a:t>
                      </a:r>
                      <a:r>
                        <a:rPr lang="ko-KR" altLang="en-US" sz="1800" dirty="0"/>
                        <a:t> 등 </a:t>
                      </a:r>
                      <a:r>
                        <a:rPr lang="ko-KR" altLang="en-US" sz="1800" b="1" dirty="0"/>
                        <a:t>희소성 </a:t>
                      </a:r>
                      <a:r>
                        <a:rPr lang="ko-KR" altLang="en-US" sz="1800" dirty="0"/>
                        <a:t>보상을 제공하는 고난도 엔드</a:t>
                      </a:r>
                      <a:r>
                        <a:rPr lang="en-US" altLang="ko-KR" sz="1800" dirty="0"/>
                        <a:t>/</a:t>
                      </a:r>
                      <a:r>
                        <a:rPr lang="ko-KR" altLang="en-US" sz="1800" dirty="0"/>
                        <a:t>챌린지 콘텐츠 주기적 업데이트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게임의 </a:t>
                      </a:r>
                      <a:r>
                        <a:rPr lang="ko-KR" altLang="en-US" sz="1800" b="1" dirty="0"/>
                        <a:t>목표 지속 제공 </a:t>
                      </a:r>
                      <a:r>
                        <a:rPr lang="ko-KR" altLang="en-US" sz="1800" dirty="0"/>
                        <a:t>및 </a:t>
                      </a:r>
                      <a:r>
                        <a:rPr lang="ko-KR" altLang="en-US" sz="1800" b="1" dirty="0"/>
                        <a:t>명예 과시</a:t>
                      </a:r>
                      <a:r>
                        <a:rPr lang="ko-KR" altLang="en-US" sz="1800" dirty="0"/>
                        <a:t>를 통한 만족도 극대화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972326"/>
                  </a:ext>
                </a:extLst>
              </a:tr>
              <a:tr h="12142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/>
                        <a:t>VIP </a:t>
                      </a:r>
                      <a:r>
                        <a:rPr lang="ko-KR" altLang="en-US" sz="1800" b="1" dirty="0"/>
                        <a:t>서비스</a:t>
                      </a:r>
                      <a:endParaRPr lang="ko-KR" altLang="en-US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누적</a:t>
                      </a:r>
                      <a:r>
                        <a:rPr lang="en-US" altLang="ko-KR" sz="1800" dirty="0"/>
                        <a:t>/</a:t>
                      </a:r>
                      <a:r>
                        <a:rPr lang="ko-KR" altLang="en-US" sz="1800" dirty="0"/>
                        <a:t>월간 결제 금액에 따른 </a:t>
                      </a:r>
                      <a:r>
                        <a:rPr lang="en-US" altLang="ko-KR" sz="1800" dirty="0"/>
                        <a:t>VIP </a:t>
                      </a:r>
                      <a:r>
                        <a:rPr lang="ko-KR" altLang="en-US" sz="1800" dirty="0"/>
                        <a:t>전용 고객센터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별도 재화 충전 보너스 등을 제공하는 등급 시스템 도입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차별화된 대우</a:t>
                      </a:r>
                      <a:r>
                        <a:rPr lang="ko-KR" altLang="en-US" sz="1800" dirty="0"/>
                        <a:t>를 통한 </a:t>
                      </a:r>
                      <a:r>
                        <a:rPr lang="ko-KR" altLang="en-US" sz="1800" b="1" dirty="0"/>
                        <a:t>이탈 방지</a:t>
                      </a:r>
                      <a:r>
                        <a:rPr lang="ko-KR" altLang="en-US" sz="1800" dirty="0"/>
                        <a:t> 및 충성도 강화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29243"/>
                  </a:ext>
                </a:extLst>
              </a:tr>
              <a:tr h="14059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/>
                        <a:t>유료 재화 획득 통제</a:t>
                      </a:r>
                      <a:endParaRPr lang="ko-KR" altLang="en-US" sz="180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재화 불균형</a:t>
                      </a:r>
                      <a:r>
                        <a:rPr lang="ko-KR" altLang="en-US" sz="1800" dirty="0"/>
                        <a:t>이 발생한 시점의 이벤트를 분석하고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향후 업데이트에서는 유료 재화가 </a:t>
                      </a:r>
                      <a:r>
                        <a:rPr lang="ko-KR" altLang="en-US" sz="1800" b="1" dirty="0"/>
                        <a:t>지나치게 풀리지 않도록</a:t>
                      </a:r>
                      <a:r>
                        <a:rPr lang="ko-KR" altLang="en-US" sz="1800" dirty="0"/>
                        <a:t> </a:t>
                      </a:r>
                      <a:r>
                        <a:rPr lang="ko-KR" altLang="en-US" sz="1800" dirty="0" err="1"/>
                        <a:t>획득량을</a:t>
                      </a:r>
                      <a:r>
                        <a:rPr lang="ko-KR" altLang="en-US" sz="1800" dirty="0"/>
                        <a:t> 통제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재화 가치 보존</a:t>
                      </a:r>
                      <a:r>
                        <a:rPr lang="ko-KR" altLang="en-US" sz="1800" dirty="0"/>
                        <a:t> 및 </a:t>
                      </a:r>
                      <a:r>
                        <a:rPr lang="ko-KR" altLang="en-US" sz="1800" dirty="0" err="1"/>
                        <a:t>현금성</a:t>
                      </a:r>
                      <a:r>
                        <a:rPr lang="ko-KR" altLang="en-US" sz="1800" dirty="0"/>
                        <a:t> 결제의 유인 유지</a:t>
                      </a:r>
                      <a:endParaRPr lang="en-US" altLang="ko-KR" sz="1800" dirty="0"/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6482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CE4CF9-6D5C-1F35-2708-39316AB44F47}"/>
              </a:ext>
            </a:extLst>
          </p:cNvPr>
          <p:cNvSpPr txBox="1"/>
          <p:nvPr/>
        </p:nvSpPr>
        <p:spPr>
          <a:xfrm>
            <a:off x="2611211" y="210465"/>
            <a:ext cx="6969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C</a:t>
            </a:r>
            <a:r>
              <a:rPr lang="ko-KR" altLang="en-US" sz="2400" b="1" dirty="0"/>
              <a:t>그룹의 만족도 극대화를 위한 안정적 매출 확보</a:t>
            </a:r>
          </a:p>
        </p:txBody>
      </p:sp>
    </p:spTree>
    <p:extLst>
      <p:ext uri="{BB962C8B-B14F-4D97-AF65-F5344CB8AC3E}">
        <p14:creationId xmlns:p14="http://schemas.microsoft.com/office/powerpoint/2010/main" val="117005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6402-93A2-C683-8072-AA43C451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FD01FC-2692-0D8F-7D93-59F9CF75C2C6}"/>
              </a:ext>
            </a:extLst>
          </p:cNvPr>
          <p:cNvSpPr txBox="1"/>
          <p:nvPr/>
        </p:nvSpPr>
        <p:spPr>
          <a:xfrm>
            <a:off x="4154066" y="435813"/>
            <a:ext cx="3883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/>
              <a:t>BM </a:t>
            </a:r>
            <a:r>
              <a:rPr lang="ko-KR" altLang="en-US" sz="2400" b="1" dirty="0"/>
              <a:t>구조적 리스크 진단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A90F6-D0AD-4FC2-DF23-698A1255308A}"/>
              </a:ext>
            </a:extLst>
          </p:cNvPr>
          <p:cNvSpPr txBox="1"/>
          <p:nvPr/>
        </p:nvSpPr>
        <p:spPr>
          <a:xfrm>
            <a:off x="604156" y="1191585"/>
            <a:ext cx="11348357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업데이트 </a:t>
            </a:r>
            <a:r>
              <a:rPr lang="en-US" altLang="ko-KR" dirty="0"/>
              <a:t>(</a:t>
            </a:r>
            <a:r>
              <a:rPr lang="ko-KR" altLang="en-US" dirty="0"/>
              <a:t>나</a:t>
            </a:r>
            <a:r>
              <a:rPr lang="en-US" altLang="ko-KR" dirty="0"/>
              <a:t>)</a:t>
            </a:r>
            <a:r>
              <a:rPr lang="ko-KR" altLang="en-US" dirty="0"/>
              <a:t>는 수익화 고점 능력을 증명했으나</a:t>
            </a:r>
            <a:r>
              <a:rPr lang="en-US" altLang="ko-KR" dirty="0"/>
              <a:t>, </a:t>
            </a:r>
            <a:r>
              <a:rPr lang="ko-KR" altLang="en-US" b="1" dirty="0"/>
              <a:t>극심한 재화 변동성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계획적인 </a:t>
            </a:r>
            <a:r>
              <a:rPr lang="en-US" altLang="ko-KR" dirty="0"/>
              <a:t>BM </a:t>
            </a:r>
            <a:r>
              <a:rPr lang="ko-KR" altLang="en-US" dirty="0"/>
              <a:t>설계 능력 및 매출 예측력의 부재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</a:t>
            </a:r>
            <a:r>
              <a:rPr lang="ko-KR" altLang="en-US" dirty="0"/>
              <a:t>그룹은 핵심 동력이지만</a:t>
            </a:r>
            <a:r>
              <a:rPr lang="en-US" altLang="ko-KR" dirty="0"/>
              <a:t>, </a:t>
            </a:r>
            <a:r>
              <a:rPr lang="ko-KR" altLang="en-US" b="1" dirty="0"/>
              <a:t>과잉 의존</a:t>
            </a:r>
            <a:r>
              <a:rPr lang="ko-KR" altLang="en-US" dirty="0"/>
              <a:t>은 </a:t>
            </a:r>
            <a:r>
              <a:rPr lang="ko-KR" altLang="en-US" b="1" dirty="0"/>
              <a:t>개별 유저 이탈 시 사업이 흔들리는 구조적 취약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매출 유지는 기본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b="1" dirty="0"/>
              <a:t>리스크를 분산하는 기반 확대</a:t>
            </a:r>
            <a:r>
              <a:rPr lang="ko-KR" altLang="en-US" dirty="0"/>
              <a:t>도 동시에 추구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04B832-E201-3F0A-398B-E49AC50E9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65579"/>
              </p:ext>
            </p:extLst>
          </p:nvPr>
        </p:nvGraphicFramePr>
        <p:xfrm>
          <a:off x="772115" y="3079114"/>
          <a:ext cx="10713870" cy="3442261"/>
        </p:xfrm>
        <a:graphic>
          <a:graphicData uri="http://schemas.openxmlformats.org/drawingml/2006/table">
            <a:tbl>
              <a:tblPr/>
              <a:tblGrid>
                <a:gridCol w="2371650">
                  <a:extLst>
                    <a:ext uri="{9D8B030D-6E8A-4147-A177-3AD203B41FA5}">
                      <a16:colId xmlns:a16="http://schemas.microsoft.com/office/drawing/2014/main" val="3844700937"/>
                    </a:ext>
                  </a:extLst>
                </a:gridCol>
                <a:gridCol w="4171110">
                  <a:extLst>
                    <a:ext uri="{9D8B030D-6E8A-4147-A177-3AD203B41FA5}">
                      <a16:colId xmlns:a16="http://schemas.microsoft.com/office/drawing/2014/main" val="1008796127"/>
                    </a:ext>
                  </a:extLst>
                </a:gridCol>
                <a:gridCol w="4171110">
                  <a:extLst>
                    <a:ext uri="{9D8B030D-6E8A-4147-A177-3AD203B41FA5}">
                      <a16:colId xmlns:a16="http://schemas.microsoft.com/office/drawing/2014/main" val="474103530"/>
                    </a:ext>
                  </a:extLst>
                </a:gridCol>
              </a:tblGrid>
              <a:tr h="3929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분석 결과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위험 진단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905143"/>
                  </a:ext>
                </a:extLst>
              </a:tr>
              <a:tr h="7696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극심한 매출 변동성</a:t>
                      </a:r>
                      <a:endParaRPr lang="ko-KR" altLang="en-US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업데이트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나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의 매출 고점에서 </a:t>
                      </a:r>
                      <a:r>
                        <a:rPr lang="ko-KR" altLang="en-US" sz="1600" b="1" dirty="0"/>
                        <a:t>이상적인 우 하향을 그리지 않음</a:t>
                      </a:r>
                      <a:endParaRPr lang="en-US" altLang="ko-KR" sz="1600" b="1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/>
                        <a:t>매출 예측의 정확도가 낮음</a:t>
                      </a:r>
                      <a:endParaRPr lang="en-US" altLang="ko-KR" sz="1600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재화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흐름 관리가 어려움</a:t>
                      </a:r>
                      <a:endParaRPr lang="en-US" altLang="ko-KR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94561"/>
                  </a:ext>
                </a:extLst>
              </a:tr>
              <a:tr h="10253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비효율적인 재화 관리</a:t>
                      </a:r>
                      <a:endParaRPr lang="ko-KR" altLang="en-US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D+47</a:t>
                      </a:r>
                      <a:r>
                        <a:rPr lang="ko-KR" altLang="en-US" sz="1600" dirty="0"/>
                        <a:t>에 재화 </a:t>
                      </a:r>
                      <a:r>
                        <a:rPr lang="ko-KR" altLang="en-US" sz="1600" b="1" dirty="0"/>
                        <a:t>과잉 공급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획득 </a:t>
                      </a:r>
                      <a:r>
                        <a:rPr lang="en-US" altLang="ko-KR" sz="1600" b="1" dirty="0"/>
                        <a:t>&gt; </a:t>
                      </a:r>
                      <a:r>
                        <a:rPr lang="ko-KR" altLang="en-US" sz="1600" b="1" dirty="0"/>
                        <a:t>소비</a:t>
                      </a:r>
                      <a:r>
                        <a:rPr lang="en-US" altLang="ko-KR" sz="1600" b="1" dirty="0"/>
                        <a:t>)</a:t>
                      </a:r>
                      <a:endParaRPr lang="en-US" altLang="ko-KR" sz="1600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D+57</a:t>
                      </a:r>
                      <a:r>
                        <a:rPr lang="ko-KR" altLang="en-US" sz="1600" dirty="0"/>
                        <a:t>에 </a:t>
                      </a:r>
                      <a:r>
                        <a:rPr lang="en-US" altLang="ko-KR" sz="1600" b="1" dirty="0"/>
                        <a:t>'</a:t>
                      </a:r>
                      <a:r>
                        <a:rPr lang="ko-KR" altLang="en-US" sz="1600" b="1" dirty="0"/>
                        <a:t>강제 회수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긴급 소진</a:t>
                      </a:r>
                      <a:r>
                        <a:rPr lang="en-US" altLang="ko-KR" sz="1600" b="1" dirty="0"/>
                        <a:t>)'</a:t>
                      </a:r>
                      <a:r>
                        <a:rPr lang="ko-KR" altLang="en-US" sz="1600" dirty="0"/>
                        <a:t> 필요</a:t>
                      </a:r>
                      <a:endParaRPr lang="en-US" altLang="ko-KR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/>
                        <a:t>공급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수요 예측에 실패</a:t>
                      </a:r>
                      <a:endParaRPr lang="en-US" altLang="ko-KR" sz="1600" b="1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당초에 계획대로 소모 시키지 못해 </a:t>
                      </a:r>
                      <a:r>
                        <a:rPr lang="ko-KR" altLang="en-US" sz="1600" b="1" dirty="0"/>
                        <a:t>리스크 전략 발생</a:t>
                      </a:r>
                      <a:endParaRPr lang="en-US" altLang="ko-KR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0928"/>
                  </a:ext>
                </a:extLst>
              </a:tr>
              <a:tr h="102539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600" b="1" dirty="0"/>
                        <a:t>신규 유저 유입 노력과의 충돌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재화를 쌓아 놓지 못한 유저군과의 </a:t>
                      </a:r>
                      <a:r>
                        <a:rPr lang="ko-KR" altLang="en-US" sz="1600" b="1" dirty="0"/>
                        <a:t>격차를 발생시켜 진입 장벽</a:t>
                      </a:r>
                      <a:r>
                        <a:rPr lang="ko-KR" altLang="en-US" sz="1600" dirty="0"/>
                        <a:t>이 될 가능성</a:t>
                      </a:r>
                      <a:endParaRPr lang="en-US" altLang="ko-KR" sz="16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신규 유저의 </a:t>
                      </a:r>
                      <a:r>
                        <a:rPr lang="ko-KR" altLang="en-US" sz="1600" b="1" dirty="0"/>
                        <a:t>초기 이탈 가능성</a:t>
                      </a:r>
                      <a:endParaRPr lang="en-US" altLang="ko-KR" sz="1600" b="1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1" dirty="0"/>
                        <a:t>업데이트 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가</a:t>
                      </a:r>
                      <a:r>
                        <a:rPr lang="en-US" altLang="ko-KR" sz="1600" b="1" dirty="0"/>
                        <a:t>)</a:t>
                      </a:r>
                      <a:r>
                        <a:rPr lang="ko-KR" altLang="en-US" sz="1600" b="1" dirty="0"/>
                        <a:t>의 성공</a:t>
                      </a:r>
                      <a:r>
                        <a:rPr lang="ko-KR" altLang="en-US" sz="1600" dirty="0"/>
                        <a:t>이 </a:t>
                      </a:r>
                      <a:r>
                        <a:rPr lang="en-US" altLang="ko-KR" sz="1600" b="1" dirty="0"/>
                        <a:t>BM </a:t>
                      </a:r>
                      <a:r>
                        <a:rPr lang="ko-KR" altLang="en-US" sz="1600" b="1" dirty="0"/>
                        <a:t>구조적 문제</a:t>
                      </a:r>
                      <a:r>
                        <a:rPr lang="ko-KR" altLang="en-US" sz="1600" dirty="0"/>
                        <a:t>로 인해 </a:t>
                      </a:r>
                      <a:r>
                        <a:rPr lang="en-US" altLang="ko-KR" sz="1600" b="1" dirty="0"/>
                        <a:t>LTV </a:t>
                      </a:r>
                      <a:r>
                        <a:rPr lang="ko-KR" altLang="en-US" sz="1600" b="1" dirty="0"/>
                        <a:t>훼손</a:t>
                      </a:r>
                      <a:r>
                        <a:rPr lang="ko-KR" altLang="en-US" sz="1600" dirty="0"/>
                        <a:t>으로 이어졌을 가능성</a:t>
                      </a:r>
                      <a:endParaRPr lang="en-US" altLang="ko-KR" sz="1600" b="1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56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02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3133174-068F-99A5-C87A-2E0512319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4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155A95-600D-F083-E149-60B785729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5"/>
            <a:ext cx="12192000" cy="684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32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E5D-43EF-5E0E-D3B1-1E7E68E4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CDF0BF-AB79-7210-28E0-64230C3D65F9}"/>
              </a:ext>
            </a:extLst>
          </p:cNvPr>
          <p:cNvSpPr txBox="1"/>
          <p:nvPr/>
        </p:nvSpPr>
        <p:spPr>
          <a:xfrm>
            <a:off x="604157" y="1079631"/>
            <a:ext cx="1122770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D+47</a:t>
            </a:r>
            <a:r>
              <a:rPr lang="ko-KR" altLang="en-US" dirty="0"/>
              <a:t>의 과잉 </a:t>
            </a:r>
            <a:r>
              <a:rPr lang="ko-KR" altLang="en-US" dirty="0" err="1"/>
              <a:t>획득량을</a:t>
            </a:r>
            <a:r>
              <a:rPr lang="ko-KR" altLang="en-US" dirty="0"/>
              <a:t> </a:t>
            </a:r>
            <a:r>
              <a:rPr lang="en-US" altLang="ko-KR" dirty="0"/>
              <a:t>D+57</a:t>
            </a:r>
            <a:r>
              <a:rPr lang="ko-KR" altLang="en-US" dirty="0"/>
              <a:t>부터 </a:t>
            </a:r>
            <a:r>
              <a:rPr lang="ko-KR" altLang="en-US" b="1" dirty="0"/>
              <a:t>긴급하게 소진 </a:t>
            </a:r>
            <a:r>
              <a:rPr lang="ko-KR" altLang="en-US" dirty="0"/>
              <a:t>시키기 위해 비정상적인 상품을 투입한 정황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6C9865-C30A-CB6D-1E79-F6AC7AB3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277793"/>
              </p:ext>
            </p:extLst>
          </p:nvPr>
        </p:nvGraphicFramePr>
        <p:xfrm>
          <a:off x="419875" y="2086885"/>
          <a:ext cx="11411990" cy="3214023"/>
        </p:xfrm>
        <a:graphic>
          <a:graphicData uri="http://schemas.openxmlformats.org/drawingml/2006/table">
            <a:tbl>
              <a:tblPr/>
              <a:tblGrid>
                <a:gridCol w="3283992">
                  <a:extLst>
                    <a:ext uri="{9D8B030D-6E8A-4147-A177-3AD203B41FA5}">
                      <a16:colId xmlns:a16="http://schemas.microsoft.com/office/drawing/2014/main" val="743039870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3133974038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345055473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필요 데이터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활용 방안 </a:t>
                      </a:r>
                      <a:endParaRPr lang="en-US" altLang="ko-KR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규명하고자 하는 리스크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908759"/>
                  </a:ext>
                </a:extLst>
              </a:tr>
              <a:tr h="12918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그룹별 </a:t>
                      </a:r>
                      <a:r>
                        <a:rPr lang="ko-KR" altLang="en-US" sz="1800" b="1" dirty="0" err="1"/>
                        <a:t>잔존율</a:t>
                      </a:r>
                      <a:r>
                        <a:rPr lang="ko-KR" altLang="en-US" sz="1800" b="1" dirty="0"/>
                        <a:t> 코호트</a:t>
                      </a:r>
                      <a:endParaRPr lang="ko-KR" altLang="en-US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0" dirty="0"/>
                        <a:t>유저들이 이후에도 지속적으로 게임에 접속하는지 확인</a:t>
                      </a:r>
                      <a:endParaRPr lang="en-US" altLang="ko-KR" sz="1800" b="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dirty="0"/>
                        <a:t>과도한 소비 후 </a:t>
                      </a:r>
                      <a:r>
                        <a:rPr lang="ko-KR" altLang="en-US" sz="1800" b="1" dirty="0" err="1"/>
                        <a:t>이탈률이</a:t>
                      </a:r>
                      <a:r>
                        <a:rPr lang="ko-KR" altLang="en-US" sz="1800" b="1" dirty="0"/>
                        <a:t> 증가</a:t>
                      </a:r>
                      <a:endParaRPr lang="en-US" altLang="ko-KR" sz="1800" b="1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dirty="0"/>
                        <a:t>장기적인 </a:t>
                      </a:r>
                      <a:r>
                        <a:rPr lang="en-US" altLang="ko-KR" sz="1800" b="1" dirty="0"/>
                        <a:t>LTV(</a:t>
                      </a:r>
                      <a:r>
                        <a:rPr lang="ko-KR" altLang="en-US" sz="1800" b="1" dirty="0"/>
                        <a:t>생애 가치</a:t>
                      </a:r>
                      <a:r>
                        <a:rPr lang="en-US" altLang="ko-KR" sz="1800" b="1" dirty="0"/>
                        <a:t>)</a:t>
                      </a:r>
                      <a:r>
                        <a:rPr lang="ko-KR" altLang="en-US" sz="1800" b="1" dirty="0"/>
                        <a:t> 훼손 확인</a:t>
                      </a:r>
                      <a:endParaRPr lang="en-US" altLang="ko-KR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17652"/>
                  </a:ext>
                </a:extLst>
              </a:tr>
              <a:tr h="14957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800" b="1" dirty="0"/>
                        <a:t>상품의 재화 대비 성능</a:t>
                      </a:r>
                      <a:r>
                        <a:rPr lang="en-US" altLang="ko-KR" sz="1800" b="1" dirty="0"/>
                        <a:t> </a:t>
                      </a:r>
                      <a:r>
                        <a:rPr lang="ko-KR" altLang="en-US" sz="1800" b="1" dirty="0"/>
                        <a:t>데이터</a:t>
                      </a:r>
                      <a:endParaRPr lang="ko-KR" altLang="en-US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D+57</a:t>
                      </a:r>
                      <a:r>
                        <a:rPr lang="ko-KR" altLang="en-US" sz="1800" dirty="0"/>
                        <a:t>에 출시된 상품이 유료 재화 단위당 제공하는 가치가 다른 상품 대비 차이에 대한 </a:t>
                      </a:r>
                      <a:r>
                        <a:rPr lang="ko-KR" altLang="en-US" sz="1800" b="1" dirty="0"/>
                        <a:t>정량적 가치 파악</a:t>
                      </a:r>
                      <a:endParaRPr lang="en-US" altLang="ko-KR" sz="1800" b="1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1" dirty="0"/>
                        <a:t>BM </a:t>
                      </a:r>
                      <a:r>
                        <a:rPr lang="ko-KR" altLang="en-US" sz="1800" b="1" dirty="0"/>
                        <a:t>설계의 예측 실패</a:t>
                      </a:r>
                      <a:r>
                        <a:rPr lang="ko-KR" altLang="en-US" sz="1800" dirty="0"/>
                        <a:t> </a:t>
                      </a:r>
                      <a:endParaRPr lang="en-US" altLang="ko-KR" sz="1800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dirty="0"/>
                        <a:t>재화 회수라는 목적을 위해 밸런스를 희생</a:t>
                      </a:r>
                      <a:r>
                        <a:rPr lang="ko-KR" altLang="en-US" sz="1800" dirty="0"/>
                        <a:t>한 것인지 확인</a:t>
                      </a:r>
                      <a:endParaRPr lang="en-US" altLang="ko-KR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861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03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DB5-68D9-12FD-AD0F-FE4E6B2B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CE6273-C5DD-1D6E-4EA7-3C98B0A1C590}"/>
              </a:ext>
            </a:extLst>
          </p:cNvPr>
          <p:cNvSpPr txBox="1"/>
          <p:nvPr/>
        </p:nvSpPr>
        <p:spPr>
          <a:xfrm>
            <a:off x="819538" y="517945"/>
            <a:ext cx="10552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/>
              <a:t>업데이트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다</a:t>
            </a:r>
            <a:r>
              <a:rPr lang="en-US" altLang="ko-KR" sz="2400" b="1" dirty="0"/>
              <a:t>), (</a:t>
            </a:r>
            <a:r>
              <a:rPr lang="ko-KR" altLang="en-US" sz="2400" b="1" dirty="0"/>
              <a:t>라</a:t>
            </a:r>
            <a:r>
              <a:rPr lang="en-US" altLang="ko-KR" sz="2400" b="1" dirty="0"/>
              <a:t>) </a:t>
            </a:r>
            <a:r>
              <a:rPr lang="ko-KR" altLang="en-US" sz="2400" b="1" dirty="0"/>
              <a:t>보완 전략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예측 가능한 재화 흐름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구축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2A0A00D-6CB7-9621-973F-827CBD4D2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320877"/>
              </p:ext>
            </p:extLst>
          </p:nvPr>
        </p:nvGraphicFramePr>
        <p:xfrm>
          <a:off x="727792" y="1503333"/>
          <a:ext cx="10676775" cy="4869475"/>
        </p:xfrm>
        <a:graphic>
          <a:graphicData uri="http://schemas.openxmlformats.org/drawingml/2006/table">
            <a:tbl>
              <a:tblPr/>
              <a:tblGrid>
                <a:gridCol w="1594401">
                  <a:extLst>
                    <a:ext uri="{9D8B030D-6E8A-4147-A177-3AD203B41FA5}">
                      <a16:colId xmlns:a16="http://schemas.microsoft.com/office/drawing/2014/main" val="981723896"/>
                    </a:ext>
                  </a:extLst>
                </a:gridCol>
                <a:gridCol w="3027458">
                  <a:extLst>
                    <a:ext uri="{9D8B030D-6E8A-4147-A177-3AD203B41FA5}">
                      <a16:colId xmlns:a16="http://schemas.microsoft.com/office/drawing/2014/main" val="2004156610"/>
                    </a:ext>
                  </a:extLst>
                </a:gridCol>
                <a:gridCol w="3027458">
                  <a:extLst>
                    <a:ext uri="{9D8B030D-6E8A-4147-A177-3AD203B41FA5}">
                      <a16:colId xmlns:a16="http://schemas.microsoft.com/office/drawing/2014/main" val="1064522571"/>
                    </a:ext>
                  </a:extLst>
                </a:gridCol>
                <a:gridCol w="3027458">
                  <a:extLst>
                    <a:ext uri="{9D8B030D-6E8A-4147-A177-3AD203B41FA5}">
                      <a16:colId xmlns:a16="http://schemas.microsoft.com/office/drawing/2014/main" val="2579004304"/>
                    </a:ext>
                  </a:extLst>
                </a:gridCol>
              </a:tblGrid>
              <a:tr h="3185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전략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/>
                        <a:t>핵심 목표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실행 방안</a:t>
                      </a:r>
                      <a:endParaRPr lang="en-US" altLang="ko-KR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/>
                        <a:t>측정 지표 </a:t>
                      </a:r>
                      <a:r>
                        <a:rPr lang="en-US" altLang="ko-KR" sz="1400"/>
                        <a:t>(</a:t>
                      </a:r>
                      <a:r>
                        <a:rPr lang="en-US" sz="1400"/>
                        <a:t>KPI)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39977"/>
                  </a:ext>
                </a:extLst>
              </a:tr>
              <a:tr h="22796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BM </a:t>
                      </a:r>
                      <a:r>
                        <a:rPr lang="ko-KR" altLang="en-US" sz="1400" b="1" dirty="0"/>
                        <a:t>구조 개편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1" dirty="0"/>
                        <a:t>매출 예측 가능성 확보</a:t>
                      </a:r>
                      <a:endParaRPr lang="en-US" altLang="ko-KR" sz="1400" b="1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dirty="0"/>
                        <a:t>월 정액 구독 상품 출시</a:t>
                      </a:r>
                      <a:r>
                        <a:rPr lang="en-US" altLang="ko-KR" sz="1400" b="1" dirty="0"/>
                        <a:t>:</a:t>
                      </a:r>
                      <a:r>
                        <a:rPr lang="ko-KR" altLang="en-US" sz="1400" dirty="0"/>
                        <a:t> 안정적 매출 베이스라인 구축</a:t>
                      </a:r>
                      <a:endParaRPr lang="en-US" altLang="ko-KR" sz="1400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dirty="0"/>
                        <a:t>시즌 패스 도입</a:t>
                      </a:r>
                      <a:r>
                        <a:rPr lang="en-US" altLang="ko-KR" sz="1400" b="1" dirty="0"/>
                        <a:t>: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2~3</a:t>
                      </a:r>
                      <a:r>
                        <a:rPr lang="ko-KR" altLang="en-US" sz="1400" dirty="0"/>
                        <a:t>개월 단위 목표를 설정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좋은 보상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제공으로 </a:t>
                      </a:r>
                      <a:r>
                        <a:rPr lang="ko-KR" altLang="en-US" sz="1400" dirty="0" err="1"/>
                        <a:t>리텐션과</a:t>
                      </a:r>
                      <a:r>
                        <a:rPr lang="ko-KR" altLang="en-US" sz="1400" dirty="0"/>
                        <a:t> 결제를 같이 유도</a:t>
                      </a:r>
                      <a:endParaRPr lang="en-US" altLang="ko-KR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dirty="0"/>
                        <a:t>매출 시계열 데이터</a:t>
                      </a:r>
                      <a:endParaRPr lang="en-US" altLang="ko-KR" sz="1400" b="1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dirty="0"/>
                        <a:t>그룹별 </a:t>
                      </a:r>
                      <a:r>
                        <a:rPr lang="en-US" altLang="ko-KR" sz="1400" b="1" dirty="0"/>
                        <a:t>AU </a:t>
                      </a:r>
                      <a:r>
                        <a:rPr lang="ko-KR" altLang="en-US" sz="1400" b="1" dirty="0"/>
                        <a:t>데이터</a:t>
                      </a:r>
                      <a:r>
                        <a:rPr lang="en-US" altLang="ko-KR" sz="1400" b="1" dirty="0"/>
                        <a:t>(DAU)</a:t>
                      </a:r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dirty="0"/>
                        <a:t>월 정액</a:t>
                      </a:r>
                      <a:r>
                        <a:rPr lang="en-US" altLang="ko-KR" sz="1400" b="1" dirty="0"/>
                        <a:t>, </a:t>
                      </a:r>
                      <a:r>
                        <a:rPr lang="ko-KR" altLang="en-US" sz="1400" b="1" dirty="0"/>
                        <a:t>시즌패스 상품 구매율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548527"/>
                  </a:ext>
                </a:extLst>
              </a:tr>
              <a:tr h="9722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b="1" dirty="0"/>
                        <a:t>재화 통제 강화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재화 가치</a:t>
                      </a:r>
                      <a:r>
                        <a:rPr lang="ko-KR" altLang="en-US" sz="1400" dirty="0"/>
                        <a:t> 및 밸런스에 대한 유저 </a:t>
                      </a:r>
                      <a:r>
                        <a:rPr lang="ko-KR" altLang="en-US" sz="1400" b="1" dirty="0"/>
                        <a:t>신뢰도 유지</a:t>
                      </a:r>
                      <a:endParaRPr lang="en-US" altLang="ko-KR" sz="1400" b="1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b="1" dirty="0"/>
                        <a:t>이달의 아이템 랜덤박스</a:t>
                      </a:r>
                      <a:r>
                        <a:rPr lang="ko-KR" altLang="en-US" sz="1400" dirty="0"/>
                        <a:t>를 추가하여 유저 재화를 점진적으로 소모</a:t>
                      </a:r>
                      <a:endParaRPr lang="en-US" altLang="ko-KR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b="1" dirty="0"/>
                        <a:t>유료 재화</a:t>
                      </a:r>
                      <a:r>
                        <a:rPr lang="en-US" altLang="ko-KR" sz="1400" b="1" dirty="0"/>
                        <a:t> </a:t>
                      </a:r>
                      <a:r>
                        <a:rPr lang="ko-KR" altLang="en-US" sz="1400" b="1" dirty="0"/>
                        <a:t>획득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ko-KR" altLang="en-US" sz="1400" b="1" dirty="0"/>
                        <a:t>소모 시계열 데이터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30606"/>
                  </a:ext>
                </a:extLst>
              </a:tr>
              <a:tr h="12990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b="1" dirty="0"/>
                        <a:t>성장 동력 재 확보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400" dirty="0"/>
                        <a:t>C</a:t>
                      </a:r>
                      <a:r>
                        <a:rPr lang="ko-KR" altLang="en-US" sz="1400" dirty="0"/>
                        <a:t>그룹 </a:t>
                      </a:r>
                      <a:r>
                        <a:rPr lang="ko-KR" altLang="en-US" sz="1400" b="1" dirty="0"/>
                        <a:t>의존도 완화</a:t>
                      </a:r>
                      <a:endParaRPr lang="en-US" altLang="ko-KR" sz="1400" b="1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400" dirty="0"/>
                        <a:t>A/B </a:t>
                      </a:r>
                      <a:r>
                        <a:rPr lang="ko-KR" altLang="en-US" sz="1400" dirty="0"/>
                        <a:t>그룹의 </a:t>
                      </a:r>
                      <a:r>
                        <a:rPr lang="en-US" altLang="ko-KR" sz="1400" dirty="0"/>
                        <a:t>LTV</a:t>
                      </a:r>
                      <a:r>
                        <a:rPr lang="ko-KR" altLang="en-US" sz="1400" dirty="0"/>
                        <a:t>를 높여</a:t>
                      </a:r>
                      <a:r>
                        <a:rPr lang="ko-KR" altLang="en-US" sz="1400" b="1" dirty="0"/>
                        <a:t> 취약성 </a:t>
                      </a:r>
                      <a:r>
                        <a:rPr lang="ko-KR" altLang="en-US" sz="1400" dirty="0"/>
                        <a:t> 개선</a:t>
                      </a:r>
                      <a:endParaRPr lang="en-US" altLang="ko-KR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400" b="1" dirty="0" err="1"/>
                        <a:t>스텝업</a:t>
                      </a:r>
                      <a:r>
                        <a:rPr lang="en-US" altLang="ko-KR" sz="1400" b="1" dirty="0"/>
                        <a:t>(</a:t>
                      </a:r>
                      <a:r>
                        <a:rPr lang="ko-KR" altLang="en-US" sz="1400" b="1" dirty="0" err="1"/>
                        <a:t>준준종결급</a:t>
                      </a:r>
                      <a:r>
                        <a:rPr lang="en-US" altLang="ko-KR" sz="1400" b="1" dirty="0"/>
                        <a:t>)</a:t>
                      </a:r>
                      <a:r>
                        <a:rPr lang="ko-KR" altLang="en-US" sz="1400" b="1" dirty="0"/>
                        <a:t> 상품 상시화</a:t>
                      </a:r>
                      <a:r>
                        <a:rPr lang="en-US" altLang="ko-KR" sz="1400" b="1" dirty="0"/>
                        <a:t>:  </a:t>
                      </a:r>
                      <a:r>
                        <a:rPr lang="ko-KR" altLang="en-US" sz="1400" b="1" dirty="0"/>
                        <a:t>가성비 높은 성장 패키지</a:t>
                      </a:r>
                      <a:r>
                        <a:rPr lang="ko-KR" altLang="en-US" sz="1400" dirty="0"/>
                        <a:t>를 업데이트 공백기에도 상시 판매</a:t>
                      </a:r>
                      <a:endParaRPr lang="en-US" altLang="ko-KR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dirty="0"/>
                        <a:t>그룹별 </a:t>
                      </a:r>
                      <a:r>
                        <a:rPr lang="en-US" altLang="ko-KR" sz="1400" b="1" dirty="0"/>
                        <a:t>PU</a:t>
                      </a:r>
                      <a:r>
                        <a:rPr lang="ko-KR" altLang="en-US" sz="1400" dirty="0"/>
                        <a:t> </a:t>
                      </a:r>
                      <a:endParaRPr lang="en-US" altLang="ko-KR" sz="1400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400" b="1" dirty="0"/>
                        <a:t>그룹별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ko-KR" altLang="en-US" sz="1400" b="1" dirty="0"/>
                        <a:t>신규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ko-KR" altLang="en-US" sz="1400" b="1" dirty="0"/>
                        <a:t>복귀 유저 매출 시계열 데이터</a:t>
                      </a:r>
                      <a:endParaRPr lang="ko-KR" altLang="en-US" sz="14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9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963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01D6-30A3-B598-F4F0-53E282595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FCA6B7-BBD8-8C4F-F2A3-022082C39E21}"/>
              </a:ext>
            </a:extLst>
          </p:cNvPr>
          <p:cNvSpPr txBox="1"/>
          <p:nvPr/>
        </p:nvSpPr>
        <p:spPr>
          <a:xfrm>
            <a:off x="2930784" y="482474"/>
            <a:ext cx="6330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/>
              <a:t>요약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62A0D3-A7E5-2762-F5C6-A68BB60E1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888374"/>
              </p:ext>
            </p:extLst>
          </p:nvPr>
        </p:nvGraphicFramePr>
        <p:xfrm>
          <a:off x="550507" y="1571608"/>
          <a:ext cx="10954139" cy="2995614"/>
        </p:xfrm>
        <a:graphic>
          <a:graphicData uri="http://schemas.openxmlformats.org/drawingml/2006/table">
            <a:tbl>
              <a:tblPr/>
              <a:tblGrid>
                <a:gridCol w="643553">
                  <a:extLst>
                    <a:ext uri="{9D8B030D-6E8A-4147-A177-3AD203B41FA5}">
                      <a16:colId xmlns:a16="http://schemas.microsoft.com/office/drawing/2014/main" val="4117429465"/>
                    </a:ext>
                  </a:extLst>
                </a:gridCol>
                <a:gridCol w="2482201">
                  <a:extLst>
                    <a:ext uri="{9D8B030D-6E8A-4147-A177-3AD203B41FA5}">
                      <a16:colId xmlns:a16="http://schemas.microsoft.com/office/drawing/2014/main" val="682041188"/>
                    </a:ext>
                  </a:extLst>
                </a:gridCol>
                <a:gridCol w="2295331">
                  <a:extLst>
                    <a:ext uri="{9D8B030D-6E8A-4147-A177-3AD203B41FA5}">
                      <a16:colId xmlns:a16="http://schemas.microsoft.com/office/drawing/2014/main" val="158216036"/>
                    </a:ext>
                  </a:extLst>
                </a:gridCol>
                <a:gridCol w="2435290">
                  <a:extLst>
                    <a:ext uri="{9D8B030D-6E8A-4147-A177-3AD203B41FA5}">
                      <a16:colId xmlns:a16="http://schemas.microsoft.com/office/drawing/2014/main" val="3888294924"/>
                    </a:ext>
                  </a:extLst>
                </a:gridCol>
                <a:gridCol w="3097764">
                  <a:extLst>
                    <a:ext uri="{9D8B030D-6E8A-4147-A177-3AD203B41FA5}">
                      <a16:colId xmlns:a16="http://schemas.microsoft.com/office/drawing/2014/main" val="2154935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업데이트 특징 비교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핵심 유저 및 전략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문제점 진단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차기 업데이트 보완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819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b="1" dirty="0"/>
                        <a:t>핵심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</a:t>
                      </a:r>
                      <a:r>
                        <a:rPr lang="en-US" altLang="ko-KR" dirty="0"/>
                        <a:t>) </a:t>
                      </a:r>
                      <a:r>
                        <a:rPr lang="en-US" altLang="ko-KR" b="0" dirty="0"/>
                        <a:t>AU </a:t>
                      </a:r>
                      <a:r>
                        <a:rPr lang="ko-KR" altLang="en-US" b="0" dirty="0"/>
                        <a:t>기반 확대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b="1" dirty="0"/>
                        <a:t>(DAU +29.3%)  </a:t>
                      </a:r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나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b="0" dirty="0"/>
                        <a:t>수익 극대화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b="1" dirty="0"/>
                        <a:t>(ARPPU +222.0%)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게임의 핵심 동력</a:t>
                      </a:r>
                      <a:r>
                        <a:rPr lang="en-US" altLang="ko-KR" dirty="0"/>
                        <a:t> 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b="1" dirty="0"/>
                        <a:t>C</a:t>
                      </a:r>
                      <a:r>
                        <a:rPr lang="ko-KR" altLang="en-US" b="1" dirty="0"/>
                        <a:t>그룹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매출 </a:t>
                      </a:r>
                      <a:r>
                        <a:rPr lang="en-US" altLang="ko-KR" b="1" dirty="0"/>
                        <a:t>52.1%)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b="1" dirty="0"/>
                        <a:t>재화 흐름 관리 실패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(D+47 </a:t>
                      </a:r>
                      <a:r>
                        <a:rPr lang="ko-KR" altLang="en-US" dirty="0"/>
                        <a:t>과잉 공급 → </a:t>
                      </a:r>
                      <a:r>
                        <a:rPr lang="en-US" altLang="ko-KR" dirty="0"/>
                        <a:t>D+57 </a:t>
                      </a:r>
                      <a:r>
                        <a:rPr lang="ko-KR" altLang="en-US" dirty="0"/>
                        <a:t>이후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과 소모 촉진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b="1" dirty="0"/>
                        <a:t>BM </a:t>
                      </a:r>
                      <a:r>
                        <a:rPr lang="ko-KR" altLang="en-US" b="1" dirty="0"/>
                        <a:t>구조 개편</a:t>
                      </a:r>
                      <a:r>
                        <a:rPr lang="ko-KR" altLang="en-US" dirty="0"/>
                        <a:t>을 통한 </a:t>
                      </a:r>
                      <a:endParaRPr lang="en-US" altLang="ko-KR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매출 예측 안정화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07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b="1" dirty="0"/>
                        <a:t>내용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성격이 다른 성공적 업데이트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b="1" dirty="0"/>
                        <a:t>VIP </a:t>
                      </a:r>
                      <a:r>
                        <a:rPr lang="ko-KR" altLang="en-US" b="1" dirty="0"/>
                        <a:t>서비스</a:t>
                      </a:r>
                      <a:r>
                        <a:rPr lang="ko-KR" altLang="en-US" dirty="0"/>
                        <a:t>  </a:t>
                      </a:r>
                      <a:endParaRPr lang="en-US" altLang="ko-KR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="1" dirty="0"/>
                        <a:t>엔드 콘텐츠</a:t>
                      </a:r>
                      <a:r>
                        <a:rPr lang="ko-KR" altLang="en-US" dirty="0"/>
                        <a:t> 제공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b="1" dirty="0"/>
                        <a:t>그룹별 </a:t>
                      </a:r>
                      <a:r>
                        <a:rPr lang="ko-KR" altLang="en-US" b="1" dirty="0" err="1"/>
                        <a:t>잔존율</a:t>
                      </a:r>
                      <a:r>
                        <a:rPr lang="ko-KR" altLang="en-US" b="1" dirty="0"/>
                        <a:t> 코호트</a:t>
                      </a:r>
                      <a:r>
                        <a:rPr lang="ko-KR" altLang="en-US" dirty="0"/>
                        <a:t> 추가 분석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="1" dirty="0"/>
                        <a:t>월 정액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시즌 패스 도입</a:t>
                      </a:r>
                      <a:endParaRPr lang="en-US" altLang="ko-KR" dirty="0"/>
                    </a:p>
                    <a:p>
                      <a:pPr marL="285750" indent="-285750" algn="ctr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b="1" dirty="0"/>
                        <a:t>재화 소모 구조 상시화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41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62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1086</Words>
  <Application>Microsoft Office PowerPoint</Application>
  <PresentationFormat>와이드스크린</PresentationFormat>
  <Paragraphs>164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kjm</dc:creator>
  <cp:lastModifiedBy>kjm</cp:lastModifiedBy>
  <cp:revision>19</cp:revision>
  <dcterms:created xsi:type="dcterms:W3CDTF">2025-09-26T16:02:47Z</dcterms:created>
  <dcterms:modified xsi:type="dcterms:W3CDTF">2025-11-13T07:00:49Z</dcterms:modified>
</cp:coreProperties>
</file>