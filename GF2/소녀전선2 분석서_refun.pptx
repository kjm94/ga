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3" r:id="rId1"/>
  </p:sldMasterIdLst>
  <p:sldIdLst>
    <p:sldId id="260" r:id="rId2"/>
    <p:sldId id="262" r:id="rId3"/>
    <p:sldId id="269" r:id="rId4"/>
    <p:sldId id="271" r:id="rId5"/>
    <p:sldId id="272" r:id="rId6"/>
    <p:sldId id="284" r:id="rId7"/>
    <p:sldId id="280" r:id="rId8"/>
    <p:sldId id="281" r:id="rId9"/>
    <p:sldId id="278" r:id="rId10"/>
    <p:sldId id="277" r:id="rId11"/>
    <p:sldId id="279" r:id="rId12"/>
    <p:sldId id="283" r:id="rId13"/>
    <p:sldId id="275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0CDB08-0003-A320-53D3-29979FB47D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62A1323-DB9C-FC63-EE01-1E06C73C1F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FC4F38-13AF-7A06-98E4-1360A20E1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0930E-EF38-4F9C-9864-04A42419574C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8E88426-83B5-02B7-02AD-902CE8E83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37BF98-83BD-0791-13F8-36B5A19A1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F2157-FF8C-4781-B21C-31C01D6378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8233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643617-3EC9-642A-C094-421DEDC78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488BCD-DF19-A193-C541-FBF54D71A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964B7C-E6D8-C4BF-A9B8-4E52648DD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0930E-EF38-4F9C-9864-04A42419574C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792C4C-8BD7-DC10-03F2-7D77E1282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CA1E6A-5D82-7674-F9FA-93E8A321D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F2157-FF8C-4781-B21C-31C01D6378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2714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0F7D43-3BF0-0A1B-FA27-E7E6297D6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A99DFCD-6898-DBF9-7668-8848C17D19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3654C5-B126-3403-2DBC-7C9261413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0930E-EF38-4F9C-9864-04A42419574C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BA3C01-AC04-593B-545D-2C6C7111C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33B5B2-5F2A-B765-82F5-FC4CD1FB1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F2157-FF8C-4781-B21C-31C01D6378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6401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8B22F5-6354-FC9D-25FE-478CCBC0D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87416B-30F9-8D3B-C627-E0C2B15969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A1EC762-0A73-6256-C8DD-E8582181D4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210E00F-74CA-5E6F-A06C-7ACA796D9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0930E-EF38-4F9C-9864-04A42419574C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C4F2FA1-02F5-0C75-AD24-20ED49C54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51161BA-7798-CDB5-06A7-CEB237755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F2157-FF8C-4781-B21C-31C01D6378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042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74D389-523B-84BD-9E0A-6883AD349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246FAE-5FE9-73B1-949D-6BF8407244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6A81F32-A9DD-7D55-8FFD-EF663C8AF8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345997A-FF7F-F0A2-967B-7F0F369051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C95EF8F-55A1-86FB-686D-49E62D0EA8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80FC889-0DF9-EAF2-5272-0F688EABF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0930E-EF38-4F9C-9864-04A42419574C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0F03921-39FC-3641-17CC-C321892D3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13E4A07-C9EC-1C7C-3B94-5AEA86B93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F2157-FF8C-4781-B21C-31C01D6378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6505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BB88AC-7D83-4E90-C6E1-EC9825075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387B7BB-EA58-F768-55BA-5C34726F6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0930E-EF38-4F9C-9864-04A42419574C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ECDFA49-6406-16A7-B910-84DE0608C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8AE9F65-24D7-584D-DE7A-AB2FE12CD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F2157-FF8C-4781-B21C-31C01D6378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367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A816DC6-D99B-E012-CEC1-EACAD8ED6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0930E-EF38-4F9C-9864-04A42419574C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48D05E9-31E9-7DEC-19EC-51034A213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099971-9E98-04BD-BC25-40800E61B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F2157-FF8C-4781-B21C-31C01D6378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4129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7833F4-E43E-BE8F-13BB-66767DAC5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6FEF75-58A5-D3BA-3A33-3B7E89F315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CB348A1-0782-62EA-0C1A-42DC3CB867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9224502-444B-BAA4-5A7B-7D416592D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0930E-EF38-4F9C-9864-04A42419574C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03D28BE-1904-6FE4-28C4-5B9ADBE9F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0B4CAE7-7D3E-31F8-E907-586393754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F2157-FF8C-4781-B21C-31C01D6378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8216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BA7ABA-206C-BA05-EE92-8907E8275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47E76F2-3667-C470-9536-A82577AFE3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D3E57EE-7964-3176-4069-5E0B714D1E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191B3C7-1B8B-9C8E-1B63-71C0830A0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0930E-EF38-4F9C-9864-04A42419574C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9590954-9020-F271-03CC-CFE0FC754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47BBC93-99BF-E3E3-A744-D6AC44CDC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F2157-FF8C-4781-B21C-31C01D6378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8864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EAD2F7-66C0-0FAC-B6D7-C5F87CF04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9C0190D-0E4C-DCE1-360C-5B18F971FD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53B59EB-6487-2282-BE24-C1BE33CF8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0930E-EF38-4F9C-9864-04A42419574C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A9619F-6ACE-A0E6-2BA7-BF21D9D9C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D2A2E9-C14A-5EFE-456A-0CC765B50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F2157-FF8C-4781-B21C-31C01D6378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729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DF8798F-2F66-C455-1884-CD499DF3F2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6F19071-941A-4FF2-D5FA-42B8658568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B8B56A-14B4-B64F-697E-B317284F1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0930E-EF38-4F9C-9864-04A42419574C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1B5095-1C6D-584B-3A75-81DC7CCBE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486F9A-3F40-7C0E-88BD-56303AA37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F2157-FF8C-4781-B21C-31C01D6378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3303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C7A8246-6B74-2438-63C6-93EA164AF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35C3248-2DF5-3205-B958-06A10FDC22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55E1B7-F120-34C5-1E33-A17BAA993E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00930E-EF38-4F9C-9864-04A42419574C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BACB04-5E34-A951-0558-43F8B12158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E8F747-F226-BA03-2A1F-4E1205C40E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4F2157-FF8C-4781-B21C-31C01D6378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4498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5CFE7395-85CF-3E4C-E629-396372BDDD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48"/>
            <a:ext cx="12192000" cy="6854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6392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2D527B01-61CF-B3A4-066B-2E525CDA3A52}"/>
              </a:ext>
            </a:extLst>
          </p:cNvPr>
          <p:cNvSpPr/>
          <p:nvPr/>
        </p:nvSpPr>
        <p:spPr>
          <a:xfrm>
            <a:off x="0" y="764161"/>
            <a:ext cx="12192000" cy="36933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50" name="Picture 2" descr="소녀전선2 : 망명 12월 5일 09:00 오픈">
            <a:extLst>
              <a:ext uri="{FF2B5EF4-FFF2-40B4-BE49-F238E27FC236}">
                <a16:creationId xmlns:a16="http://schemas.microsoft.com/office/drawing/2014/main" id="{9AAFFC41-29E7-BE0B-76DF-A44B2C0E68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8980"/>
          <a:stretch/>
        </p:blipFill>
        <p:spPr bwMode="auto">
          <a:xfrm>
            <a:off x="0" y="0"/>
            <a:ext cx="12192000" cy="755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442F6A8-DA8B-1B21-1122-B7723FAF3665}"/>
              </a:ext>
            </a:extLst>
          </p:cNvPr>
          <p:cNvSpPr txBox="1"/>
          <p:nvPr/>
        </p:nvSpPr>
        <p:spPr>
          <a:xfrm>
            <a:off x="931334" y="795865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1. </a:t>
            </a:r>
            <a:r>
              <a:rPr lang="ko-KR" altLang="en-US" b="1" dirty="0"/>
              <a:t>게임소개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D41C66-8352-8BEE-1903-352AC3A18E08}"/>
              </a:ext>
            </a:extLst>
          </p:cNvPr>
          <p:cNvSpPr txBox="1"/>
          <p:nvPr/>
        </p:nvSpPr>
        <p:spPr>
          <a:xfrm>
            <a:off x="3386666" y="772534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2.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컨텐츠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3DA949-33CA-1D6D-5416-5FE3864F69A8}"/>
              </a:ext>
            </a:extLst>
          </p:cNvPr>
          <p:cNvSpPr txBox="1"/>
          <p:nvPr/>
        </p:nvSpPr>
        <p:spPr>
          <a:xfrm>
            <a:off x="9313333" y="772534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4.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사업적 분석</a:t>
            </a: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7702FD19-35B3-2D29-008B-30CE9DE8FA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240376"/>
              </p:ext>
            </p:extLst>
          </p:nvPr>
        </p:nvGraphicFramePr>
        <p:xfrm>
          <a:off x="7975600" y="1141866"/>
          <a:ext cx="4216400" cy="572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8200">
                  <a:extLst>
                    <a:ext uri="{9D8B030D-6E8A-4147-A177-3AD203B41FA5}">
                      <a16:colId xmlns:a16="http://schemas.microsoft.com/office/drawing/2014/main" val="3910788454"/>
                    </a:ext>
                  </a:extLst>
                </a:gridCol>
                <a:gridCol w="2108200">
                  <a:extLst>
                    <a:ext uri="{9D8B030D-6E8A-4147-A177-3AD203B41FA5}">
                      <a16:colId xmlns:a16="http://schemas.microsoft.com/office/drawing/2014/main" val="2429959101"/>
                    </a:ext>
                  </a:extLst>
                </a:gridCol>
              </a:tblGrid>
              <a:tr h="53811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게임명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소녀전선</a:t>
                      </a:r>
                      <a:r>
                        <a:rPr lang="en-US" altLang="ko-KR" dirty="0"/>
                        <a:t>2:</a:t>
                      </a:r>
                      <a:r>
                        <a:rPr lang="ko-KR" altLang="en-US" dirty="0"/>
                        <a:t>망명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969277"/>
                  </a:ext>
                </a:extLst>
              </a:tr>
              <a:tr h="53811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장르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SRPG(</a:t>
                      </a:r>
                      <a:r>
                        <a:rPr lang="ko-KR" altLang="en-US" dirty="0"/>
                        <a:t>전략 </a:t>
                      </a:r>
                      <a:r>
                        <a:rPr lang="ko-KR" altLang="en-US" dirty="0" err="1"/>
                        <a:t>알피지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7372134"/>
                  </a:ext>
                </a:extLst>
              </a:tr>
              <a:tr h="62981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개발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Sunborn</a:t>
                      </a:r>
                      <a:r>
                        <a:rPr lang="en-US" altLang="ko-KR" dirty="0"/>
                        <a:t> (MICATEAM)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3885360"/>
                  </a:ext>
                </a:extLst>
              </a:tr>
              <a:tr h="53811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퍼블리셔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HaoPlay</a:t>
                      </a:r>
                      <a:r>
                        <a:rPr lang="en-US" altLang="ko-KR" dirty="0"/>
                        <a:t> Limited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02238"/>
                  </a:ext>
                </a:extLst>
              </a:tr>
              <a:tr h="53811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등급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12</a:t>
                      </a:r>
                      <a:r>
                        <a:rPr lang="ko-KR" altLang="en-US" dirty="0"/>
                        <a:t>세 </a:t>
                      </a:r>
                      <a:r>
                        <a:rPr lang="ko-KR" altLang="en-US" dirty="0" err="1"/>
                        <a:t>이용가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1422420"/>
                  </a:ext>
                </a:extLst>
              </a:tr>
              <a:tr h="53811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출시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2024</a:t>
                      </a:r>
                      <a:r>
                        <a:rPr lang="ko-KR" altLang="en-US" dirty="0"/>
                        <a:t>년 </a:t>
                      </a:r>
                      <a:r>
                        <a:rPr lang="en-US" altLang="ko-KR" dirty="0"/>
                        <a:t>12</a:t>
                      </a:r>
                      <a:r>
                        <a:rPr lang="ko-KR" altLang="en-US" dirty="0"/>
                        <a:t>월 </a:t>
                      </a:r>
                      <a:r>
                        <a:rPr lang="en-US" altLang="ko-KR" dirty="0"/>
                        <a:t>5</a:t>
                      </a:r>
                      <a:r>
                        <a:rPr lang="ko-KR" altLang="en-US" dirty="0"/>
                        <a:t>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9362436"/>
                  </a:ext>
                </a:extLst>
              </a:tr>
              <a:tr h="53811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엔진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유니티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5953510"/>
                  </a:ext>
                </a:extLst>
              </a:tr>
              <a:tr h="92880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플랫폼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Windows / Android / IOS / macOS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3990087"/>
                  </a:ext>
                </a:extLst>
              </a:tr>
              <a:tr h="92880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ESD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Steam / Google Play / App Store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5934019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F1081271-BBD5-B13D-A813-51BB099390AB}"/>
              </a:ext>
            </a:extLst>
          </p:cNvPr>
          <p:cNvSpPr txBox="1"/>
          <p:nvPr/>
        </p:nvSpPr>
        <p:spPr>
          <a:xfrm>
            <a:off x="-1" y="5184972"/>
            <a:ext cx="797559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Pretendard JP"/>
              </a:rPr>
              <a:t>중국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Pretendard JP"/>
              </a:rPr>
              <a:t>의 </a:t>
            </a:r>
            <a:r>
              <a:rPr lang="en-US" altLang="ko-KR" dirty="0" err="1">
                <a:latin typeface="Pretendard JP"/>
              </a:rPr>
              <a:t>Sunborn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Pretendard JP"/>
              </a:rPr>
              <a:t>(MICATEAM)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Pretendard JP"/>
              </a:rPr>
              <a:t>이 개발한 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Pretendard JP"/>
              </a:rPr>
              <a:t>3D 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Pretendard JP"/>
              </a:rPr>
              <a:t>슈팅 </a:t>
            </a:r>
            <a:r>
              <a:rPr lang="ko-KR" altLang="en-US" dirty="0" err="1">
                <a:latin typeface="Pretendard JP"/>
              </a:rPr>
              <a:t>턴제</a:t>
            </a:r>
            <a:r>
              <a:rPr lang="ko-KR" altLang="en-US" dirty="0">
                <a:latin typeface="Pretendard JP"/>
              </a:rPr>
              <a:t> 전략 게임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Pretendard JP"/>
              </a:rPr>
              <a:t>이자 </a:t>
            </a:r>
            <a:br>
              <a:rPr lang="en-US" altLang="ko-KR" b="0" i="0" dirty="0">
                <a:solidFill>
                  <a:srgbClr val="212529"/>
                </a:solidFill>
                <a:effectLst/>
                <a:latin typeface="Pretendard JP"/>
              </a:rPr>
            </a:br>
            <a:r>
              <a:rPr lang="ko-KR" altLang="en-US" dirty="0">
                <a:latin typeface="Pretendard JP"/>
              </a:rPr>
              <a:t>소녀전선 시리즈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Pretendard JP"/>
              </a:rPr>
              <a:t>의 최신 작품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Pretendard JP"/>
              </a:rPr>
              <a:t>.</a:t>
            </a:r>
            <a:br>
              <a:rPr lang="ko-KR" altLang="en-US" dirty="0"/>
            </a:br>
            <a:br>
              <a:rPr lang="ko-KR" altLang="en-US" dirty="0"/>
            </a:br>
            <a:r>
              <a:rPr lang="ko-KR" altLang="en-US" b="0" i="0" dirty="0">
                <a:solidFill>
                  <a:srgbClr val="212529"/>
                </a:solidFill>
                <a:effectLst/>
                <a:latin typeface="Pretendard JP"/>
              </a:rPr>
              <a:t>작중 연도는 전작 </a:t>
            </a:r>
            <a:r>
              <a:rPr lang="ko-KR" altLang="en-US" dirty="0">
                <a:latin typeface="Pretendard JP"/>
              </a:rPr>
              <a:t>소녀전선</a:t>
            </a:r>
            <a:r>
              <a:rPr lang="en-US" altLang="ko-KR" dirty="0">
                <a:latin typeface="Pretendard JP"/>
              </a:rPr>
              <a:t>1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Pretendard JP"/>
              </a:rPr>
              <a:t>에서 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Pretendard JP"/>
              </a:rPr>
              <a:t>10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Pretendard JP"/>
              </a:rPr>
              <a:t>여년 뒤인 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Pretendard JP"/>
              </a:rPr>
              <a:t>2074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Pretendard JP"/>
              </a:rPr>
              <a:t>년으로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Pretendard JP"/>
              </a:rPr>
              <a:t>, </a:t>
            </a:r>
            <a:br>
              <a:rPr lang="en-US" altLang="ko-KR" b="0" i="0" dirty="0">
                <a:solidFill>
                  <a:srgbClr val="212529"/>
                </a:solidFill>
                <a:effectLst/>
                <a:latin typeface="Pretendard JP"/>
              </a:rPr>
            </a:br>
            <a:r>
              <a:rPr lang="ko-KR" altLang="en-US" b="0" i="0" dirty="0">
                <a:solidFill>
                  <a:srgbClr val="212529"/>
                </a:solidFill>
                <a:effectLst/>
                <a:latin typeface="Pretendard JP"/>
              </a:rPr>
              <a:t>소녀전선 시리즈의 주연 캐릭터인 </a:t>
            </a:r>
            <a:r>
              <a:rPr lang="ko-KR" altLang="en-US" dirty="0">
                <a:latin typeface="Pretendard JP"/>
              </a:rPr>
              <a:t>지휘관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Pretendard JP"/>
              </a:rPr>
              <a:t>이 그대로 주인공으로 등장한다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Pretendard JP"/>
              </a:rPr>
              <a:t>.</a:t>
            </a:r>
            <a:endParaRPr lang="ko-KR" altLang="en-US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04A4657-AA8B-0B31-A6BD-F6FCD5FBDEF6}"/>
              </a:ext>
            </a:extLst>
          </p:cNvPr>
          <p:cNvSpPr/>
          <p:nvPr/>
        </p:nvSpPr>
        <p:spPr>
          <a:xfrm>
            <a:off x="0" y="5063067"/>
            <a:ext cx="7975598" cy="1794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60" name="Picture 12" descr="게임미리보기] 압도적 완성도, 서브컬처 〈소녀전선2: 망명〉 &lt; Game &lt; News &lt; 기사본문 - 글로벌E">
            <a:extLst>
              <a:ext uri="{FF2B5EF4-FFF2-40B4-BE49-F238E27FC236}">
                <a16:creationId xmlns:a16="http://schemas.microsoft.com/office/drawing/2014/main" id="{8D5A4A3B-1B2E-6CD0-32E0-11473DC345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33493"/>
            <a:ext cx="7975598" cy="3929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DB325DF-FDAB-791F-6833-841F15F2BBFF}"/>
              </a:ext>
            </a:extLst>
          </p:cNvPr>
          <p:cNvSpPr txBox="1"/>
          <p:nvPr/>
        </p:nvSpPr>
        <p:spPr>
          <a:xfrm>
            <a:off x="6349999" y="764161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3.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플레이 분석</a:t>
            </a:r>
          </a:p>
        </p:txBody>
      </p:sp>
    </p:spTree>
    <p:extLst>
      <p:ext uri="{BB962C8B-B14F-4D97-AF65-F5344CB8AC3E}">
        <p14:creationId xmlns:p14="http://schemas.microsoft.com/office/powerpoint/2010/main" val="461899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FF749-017D-FB5C-55D6-F6DBDD283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7A5CD92F-B6F9-9CB9-A5DD-5936EB8A5882}"/>
              </a:ext>
            </a:extLst>
          </p:cNvPr>
          <p:cNvSpPr/>
          <p:nvPr/>
        </p:nvSpPr>
        <p:spPr>
          <a:xfrm>
            <a:off x="0" y="764161"/>
            <a:ext cx="12192000" cy="36933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50" name="Picture 2" descr="소녀전선2 : 망명 12월 5일 09:00 오픈">
            <a:extLst>
              <a:ext uri="{FF2B5EF4-FFF2-40B4-BE49-F238E27FC236}">
                <a16:creationId xmlns:a16="http://schemas.microsoft.com/office/drawing/2014/main" id="{D786FBCB-7FDD-7E82-6828-BF46E8ED30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8980"/>
          <a:stretch/>
        </p:blipFill>
        <p:spPr bwMode="auto">
          <a:xfrm>
            <a:off x="0" y="0"/>
            <a:ext cx="12192000" cy="755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FA37BB39-CDE0-628C-6448-A9FC44AF63BE}"/>
              </a:ext>
            </a:extLst>
          </p:cNvPr>
          <p:cNvSpPr/>
          <p:nvPr/>
        </p:nvSpPr>
        <p:spPr>
          <a:xfrm>
            <a:off x="635000" y="3302000"/>
            <a:ext cx="1380067" cy="84666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튜토리얼</a:t>
            </a: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307951F6-1E92-4624-75EE-79D519094B0B}"/>
              </a:ext>
            </a:extLst>
          </p:cNvPr>
          <p:cNvSpPr/>
          <p:nvPr/>
        </p:nvSpPr>
        <p:spPr>
          <a:xfrm>
            <a:off x="4309534" y="3301998"/>
            <a:ext cx="1676400" cy="84666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보급작전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A7A0DE8-A4BA-09F0-5ADC-DD9822408240}"/>
              </a:ext>
            </a:extLst>
          </p:cNvPr>
          <p:cNvSpPr/>
          <p:nvPr/>
        </p:nvSpPr>
        <p:spPr>
          <a:xfrm>
            <a:off x="2472267" y="3301999"/>
            <a:ext cx="1380067" cy="84666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스토리전역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3BB0564B-069F-5968-D506-F69806FBACD1}"/>
              </a:ext>
            </a:extLst>
          </p:cNvPr>
          <p:cNvSpPr/>
          <p:nvPr/>
        </p:nvSpPr>
        <p:spPr>
          <a:xfrm>
            <a:off x="4309534" y="4631265"/>
            <a:ext cx="1862666" cy="84666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*</a:t>
            </a:r>
            <a:r>
              <a:rPr lang="ko-KR" altLang="en-US" dirty="0">
                <a:solidFill>
                  <a:schemeClr val="tx1"/>
                </a:solidFill>
              </a:rPr>
              <a:t>이벤트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3F066524-BFF0-8F1A-6BB6-EEA7D35CFE45}"/>
              </a:ext>
            </a:extLst>
          </p:cNvPr>
          <p:cNvSpPr/>
          <p:nvPr/>
        </p:nvSpPr>
        <p:spPr>
          <a:xfrm>
            <a:off x="6443133" y="3268130"/>
            <a:ext cx="1837267" cy="84666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*</a:t>
            </a:r>
            <a:r>
              <a:rPr lang="ko-KR" altLang="en-US" dirty="0">
                <a:solidFill>
                  <a:schemeClr val="tx1"/>
                </a:solidFill>
              </a:rPr>
              <a:t>모의작전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5E92128-F961-7205-49E3-396DBC8BB67A}"/>
              </a:ext>
            </a:extLst>
          </p:cNvPr>
          <p:cNvSpPr/>
          <p:nvPr/>
        </p:nvSpPr>
        <p:spPr>
          <a:xfrm>
            <a:off x="9616316" y="3567471"/>
            <a:ext cx="1380067" cy="84666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흙먼지전선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DD01CF8E-2199-C87D-A954-C1522BC54D83}"/>
              </a:ext>
            </a:extLst>
          </p:cNvPr>
          <p:cNvCxnSpPr>
            <a:cxnSpLocks/>
            <a:stCxn id="7" idx="3"/>
            <a:endCxn id="10" idx="1"/>
          </p:cNvCxnSpPr>
          <p:nvPr/>
        </p:nvCxnSpPr>
        <p:spPr>
          <a:xfrm>
            <a:off x="4555037" y="4024673"/>
            <a:ext cx="27278" cy="7305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866E8749-0EFF-DE85-E20F-F9CC0DE5CF3B}"/>
              </a:ext>
            </a:extLst>
          </p:cNvPr>
          <p:cNvCxnSpPr>
            <a:cxnSpLocks/>
            <a:stCxn id="10" idx="7"/>
            <a:endCxn id="7" idx="5"/>
          </p:cNvCxnSpPr>
          <p:nvPr/>
        </p:nvCxnSpPr>
        <p:spPr>
          <a:xfrm flipH="1" flipV="1">
            <a:off x="5740431" y="4024673"/>
            <a:ext cx="158988" cy="7305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2A98A736-F9F4-FFFC-FFA1-7F2FF8458597}"/>
              </a:ext>
            </a:extLst>
          </p:cNvPr>
          <p:cNvCxnSpPr>
            <a:cxnSpLocks/>
            <a:stCxn id="7" idx="7"/>
            <a:endCxn id="11" idx="1"/>
          </p:cNvCxnSpPr>
          <p:nvPr/>
        </p:nvCxnSpPr>
        <p:spPr>
          <a:xfrm flipV="1">
            <a:off x="5740431" y="3392122"/>
            <a:ext cx="971764" cy="338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F8756C6E-0FAB-E9C9-5804-F9FA139739D3}"/>
              </a:ext>
            </a:extLst>
          </p:cNvPr>
          <p:cNvCxnSpPr>
            <a:cxnSpLocks/>
            <a:stCxn id="11" idx="3"/>
            <a:endCxn id="7" idx="5"/>
          </p:cNvCxnSpPr>
          <p:nvPr/>
        </p:nvCxnSpPr>
        <p:spPr>
          <a:xfrm flipH="1">
            <a:off x="5740431" y="3990805"/>
            <a:ext cx="971764" cy="338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0903B1A0-EA36-280B-ECD7-045C4CED1A5C}"/>
              </a:ext>
            </a:extLst>
          </p:cNvPr>
          <p:cNvCxnSpPr>
            <a:cxnSpLocks/>
            <a:stCxn id="10" idx="5"/>
            <a:endCxn id="11" idx="4"/>
          </p:cNvCxnSpPr>
          <p:nvPr/>
        </p:nvCxnSpPr>
        <p:spPr>
          <a:xfrm flipV="1">
            <a:off x="5899419" y="4114797"/>
            <a:ext cx="1462348" cy="12391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21965073-F521-DC3E-DEC6-2EDCC9D6A477}"/>
              </a:ext>
            </a:extLst>
          </p:cNvPr>
          <p:cNvCxnSpPr>
            <a:cxnSpLocks/>
            <a:stCxn id="11" idx="3"/>
            <a:endCxn id="10" idx="7"/>
          </p:cNvCxnSpPr>
          <p:nvPr/>
        </p:nvCxnSpPr>
        <p:spPr>
          <a:xfrm flipH="1">
            <a:off x="5899419" y="3990805"/>
            <a:ext cx="812776" cy="7644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4D72E855-A872-F4CE-246F-535123223E3E}"/>
              </a:ext>
            </a:extLst>
          </p:cNvPr>
          <p:cNvCxnSpPr>
            <a:stCxn id="4" idx="3"/>
            <a:endCxn id="9" idx="1"/>
          </p:cNvCxnSpPr>
          <p:nvPr/>
        </p:nvCxnSpPr>
        <p:spPr>
          <a:xfrm flipV="1">
            <a:off x="2015067" y="3725333"/>
            <a:ext cx="45720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994BF6BC-5238-427C-D520-EA4AB4299978}"/>
              </a:ext>
            </a:extLst>
          </p:cNvPr>
          <p:cNvSpPr/>
          <p:nvPr/>
        </p:nvSpPr>
        <p:spPr>
          <a:xfrm>
            <a:off x="635000" y="1397000"/>
            <a:ext cx="3217334" cy="68805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* </a:t>
            </a:r>
            <a:r>
              <a:rPr lang="ko-KR" altLang="en-US" dirty="0">
                <a:solidFill>
                  <a:schemeClr val="tx1"/>
                </a:solidFill>
              </a:rPr>
              <a:t>도전 컨텐츠 일부 존재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87186C56-3546-5285-9564-F1C35FAF96DE}"/>
              </a:ext>
            </a:extLst>
          </p:cNvPr>
          <p:cNvSpPr/>
          <p:nvPr/>
        </p:nvSpPr>
        <p:spPr>
          <a:xfrm>
            <a:off x="4165600" y="2573870"/>
            <a:ext cx="4292600" cy="32596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84DDEA5-E2A1-A617-EBDE-5ED2FF068A73}"/>
              </a:ext>
            </a:extLst>
          </p:cNvPr>
          <p:cNvSpPr txBox="1"/>
          <p:nvPr/>
        </p:nvSpPr>
        <p:spPr>
          <a:xfrm>
            <a:off x="5276849" y="2642641"/>
            <a:ext cx="23325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주요 성장 컨텐츠</a:t>
            </a: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B5B9D474-4BEB-2CD7-7ECE-BA0086DB535F}"/>
              </a:ext>
            </a:extLst>
          </p:cNvPr>
          <p:cNvCxnSpPr>
            <a:stCxn id="9" idx="3"/>
          </p:cNvCxnSpPr>
          <p:nvPr/>
        </p:nvCxnSpPr>
        <p:spPr>
          <a:xfrm flipV="1">
            <a:off x="3852334" y="3725331"/>
            <a:ext cx="313266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AA3D6BD2-9247-5ECE-6A78-65B0420CFC09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8663244" y="3990805"/>
            <a:ext cx="953072" cy="3737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48676FC3-A59A-BE8F-0E52-F4B93EF9B84F}"/>
              </a:ext>
            </a:extLst>
          </p:cNvPr>
          <p:cNvSpPr/>
          <p:nvPr/>
        </p:nvSpPr>
        <p:spPr>
          <a:xfrm>
            <a:off x="1564218" y="5054598"/>
            <a:ext cx="2099733" cy="85513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캐릭터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무기 가챠</a:t>
            </a:r>
          </a:p>
        </p:txBody>
      </p: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95CE0428-6F4A-F7FA-AB9F-701CEEC9C99E}"/>
              </a:ext>
            </a:extLst>
          </p:cNvPr>
          <p:cNvCxnSpPr>
            <a:stCxn id="50" idx="3"/>
          </p:cNvCxnSpPr>
          <p:nvPr/>
        </p:nvCxnSpPr>
        <p:spPr>
          <a:xfrm flipV="1">
            <a:off x="3663951" y="5477932"/>
            <a:ext cx="501649" cy="42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CFC1D47C-1037-9104-0EFD-A09007661E6A}"/>
              </a:ext>
            </a:extLst>
          </p:cNvPr>
          <p:cNvSpPr/>
          <p:nvPr/>
        </p:nvSpPr>
        <p:spPr>
          <a:xfrm>
            <a:off x="448733" y="2175933"/>
            <a:ext cx="8214511" cy="428413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18B180EA-9CAE-F2DC-0F67-2EB10ADCE569}"/>
              </a:ext>
            </a:extLst>
          </p:cNvPr>
          <p:cNvSpPr/>
          <p:nvPr/>
        </p:nvSpPr>
        <p:spPr>
          <a:xfrm>
            <a:off x="9484174" y="2570660"/>
            <a:ext cx="1644350" cy="69426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일일과업</a:t>
            </a:r>
          </a:p>
        </p:txBody>
      </p: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377FB7C5-F16D-5938-BD32-CC7E73916A36}"/>
              </a:ext>
            </a:extLst>
          </p:cNvPr>
          <p:cNvCxnSpPr>
            <a:stCxn id="58" idx="4"/>
            <a:endCxn id="12" idx="0"/>
          </p:cNvCxnSpPr>
          <p:nvPr/>
        </p:nvCxnSpPr>
        <p:spPr>
          <a:xfrm>
            <a:off x="10306349" y="3264920"/>
            <a:ext cx="1" cy="3025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5E4692D6-C667-913F-385F-A16E5ACFE0B0}"/>
              </a:ext>
            </a:extLst>
          </p:cNvPr>
          <p:cNvSpPr/>
          <p:nvPr/>
        </p:nvSpPr>
        <p:spPr>
          <a:xfrm>
            <a:off x="8898467" y="2319867"/>
            <a:ext cx="2921000" cy="27347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C3B532A-1704-992C-F893-6A067999F429}"/>
              </a:ext>
            </a:extLst>
          </p:cNvPr>
          <p:cNvSpPr txBox="1"/>
          <p:nvPr/>
        </p:nvSpPr>
        <p:spPr>
          <a:xfrm>
            <a:off x="9398000" y="1778000"/>
            <a:ext cx="200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서클 컨텐츠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E1CEE2-DB7A-6981-E521-D85EA4D6EE8A}"/>
              </a:ext>
            </a:extLst>
          </p:cNvPr>
          <p:cNvSpPr txBox="1"/>
          <p:nvPr/>
        </p:nvSpPr>
        <p:spPr>
          <a:xfrm>
            <a:off x="931334" y="795865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1.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게임소개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91053D-3DDF-18B7-DE63-FF1057077677}"/>
              </a:ext>
            </a:extLst>
          </p:cNvPr>
          <p:cNvSpPr txBox="1"/>
          <p:nvPr/>
        </p:nvSpPr>
        <p:spPr>
          <a:xfrm>
            <a:off x="3386666" y="772534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2. </a:t>
            </a:r>
            <a:r>
              <a:rPr lang="ko-KR" altLang="en-US" b="1" dirty="0"/>
              <a:t>컨텐츠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004E92-F9AE-8DAA-00C8-AA3B89B0A850}"/>
              </a:ext>
            </a:extLst>
          </p:cNvPr>
          <p:cNvSpPr txBox="1"/>
          <p:nvPr/>
        </p:nvSpPr>
        <p:spPr>
          <a:xfrm>
            <a:off x="9313333" y="772534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4.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사업적 분석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ABECA0-3FBD-90E6-E1CD-CA254F5303F6}"/>
              </a:ext>
            </a:extLst>
          </p:cNvPr>
          <p:cNvSpPr txBox="1"/>
          <p:nvPr/>
        </p:nvSpPr>
        <p:spPr>
          <a:xfrm>
            <a:off x="6349999" y="764161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3.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플레이 분석</a:t>
            </a:r>
          </a:p>
        </p:txBody>
      </p:sp>
    </p:spTree>
    <p:extLst>
      <p:ext uri="{BB962C8B-B14F-4D97-AF65-F5344CB8AC3E}">
        <p14:creationId xmlns:p14="http://schemas.microsoft.com/office/powerpoint/2010/main" val="22174358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1E895-07F2-368D-C589-DA0C4A8D6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B16661D3-028F-E1A3-21F4-234CAF780AC2}"/>
              </a:ext>
            </a:extLst>
          </p:cNvPr>
          <p:cNvSpPr/>
          <p:nvPr/>
        </p:nvSpPr>
        <p:spPr>
          <a:xfrm>
            <a:off x="0" y="764161"/>
            <a:ext cx="12192000" cy="36933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50" name="Picture 2" descr="소녀전선2 : 망명 12월 5일 09:00 오픈">
            <a:extLst>
              <a:ext uri="{FF2B5EF4-FFF2-40B4-BE49-F238E27FC236}">
                <a16:creationId xmlns:a16="http://schemas.microsoft.com/office/drawing/2014/main" id="{D59163DA-0F4E-0CD2-758B-677F4F6085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8980"/>
          <a:stretch/>
        </p:blipFill>
        <p:spPr bwMode="auto">
          <a:xfrm>
            <a:off x="0" y="0"/>
            <a:ext cx="12192000" cy="755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02132F9-1A2B-7F75-B87E-46CCFCFA1339}"/>
              </a:ext>
            </a:extLst>
          </p:cNvPr>
          <p:cNvSpPr txBox="1"/>
          <p:nvPr/>
        </p:nvSpPr>
        <p:spPr>
          <a:xfrm>
            <a:off x="931334" y="795865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1.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게임소개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95ABFE-090B-549A-BC40-C5D7DB2459CD}"/>
              </a:ext>
            </a:extLst>
          </p:cNvPr>
          <p:cNvSpPr txBox="1"/>
          <p:nvPr/>
        </p:nvSpPr>
        <p:spPr>
          <a:xfrm>
            <a:off x="3386666" y="772534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2.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컨텐츠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5CA953-9187-DA06-8DE8-A5C1F9E3DD68}"/>
              </a:ext>
            </a:extLst>
          </p:cNvPr>
          <p:cNvSpPr txBox="1"/>
          <p:nvPr/>
        </p:nvSpPr>
        <p:spPr>
          <a:xfrm>
            <a:off x="9313333" y="772534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4.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사업적 분석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50630D-3E6B-B1F1-6F90-66483CCD2DF7}"/>
              </a:ext>
            </a:extLst>
          </p:cNvPr>
          <p:cNvSpPr txBox="1"/>
          <p:nvPr/>
        </p:nvSpPr>
        <p:spPr>
          <a:xfrm>
            <a:off x="6349999" y="764161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3. </a:t>
            </a:r>
            <a:r>
              <a:rPr lang="ko-KR" altLang="en-US" b="1" dirty="0"/>
              <a:t>플레이 분석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49507716-A11E-C6B3-FC72-5F6BAAA773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6543640"/>
              </p:ext>
            </p:extLst>
          </p:nvPr>
        </p:nvGraphicFramePr>
        <p:xfrm>
          <a:off x="219808" y="1584274"/>
          <a:ext cx="11737730" cy="4624446"/>
        </p:xfrm>
        <a:graphic>
          <a:graphicData uri="http://schemas.openxmlformats.org/drawingml/2006/table">
            <a:tbl>
              <a:tblPr/>
              <a:tblGrid>
                <a:gridCol w="2427764">
                  <a:extLst>
                    <a:ext uri="{9D8B030D-6E8A-4147-A177-3AD203B41FA5}">
                      <a16:colId xmlns:a16="http://schemas.microsoft.com/office/drawing/2014/main" val="383724237"/>
                    </a:ext>
                  </a:extLst>
                </a:gridCol>
                <a:gridCol w="4526951">
                  <a:extLst>
                    <a:ext uri="{9D8B030D-6E8A-4147-A177-3AD203B41FA5}">
                      <a16:colId xmlns:a16="http://schemas.microsoft.com/office/drawing/2014/main" val="4156500220"/>
                    </a:ext>
                  </a:extLst>
                </a:gridCol>
                <a:gridCol w="4783015">
                  <a:extLst>
                    <a:ext uri="{9D8B030D-6E8A-4147-A177-3AD203B41FA5}">
                      <a16:colId xmlns:a16="http://schemas.microsoft.com/office/drawing/2014/main" val="2379110110"/>
                    </a:ext>
                  </a:extLst>
                </a:gridCol>
              </a:tblGrid>
              <a:tr h="279444"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ko-KR" altLang="en-US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재미요인</a:t>
                      </a:r>
                      <a:endParaRPr lang="ko-KR" altLang="en-US" sz="14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ko-KR" altLang="en-US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확장</a:t>
                      </a:r>
                      <a:r>
                        <a:rPr lang="en-US" altLang="ko-KR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/</a:t>
                      </a:r>
                      <a:r>
                        <a:rPr lang="ko-KR" altLang="en-US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구체화 방향</a:t>
                      </a:r>
                      <a:endParaRPr lang="ko-KR" altLang="en-US" sz="14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ko-KR" altLang="en-US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기대 효과</a:t>
                      </a:r>
                      <a:endParaRPr lang="ko-KR" altLang="en-US" sz="14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7805515"/>
                  </a:ext>
                </a:extLst>
              </a:tr>
              <a:tr h="1177656"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en-US" altLang="ko-KR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"</a:t>
                      </a:r>
                      <a:r>
                        <a:rPr lang="ko-KR" altLang="en-US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그래픽 퀄리티가 좋다</a:t>
                      </a:r>
                      <a:r>
                        <a:rPr lang="en-US" altLang="ko-KR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."</a:t>
                      </a:r>
                      <a:endParaRPr lang="ko-KR" altLang="en-US" sz="14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ko-KR" altLang="en-US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최상급 그래픽 퀄리티를 통한 캐릭터 </a:t>
                      </a:r>
                      <a:r>
                        <a:rPr lang="ko-KR" altLang="en-US" sz="1400" b="1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인게이지먼트</a:t>
                      </a:r>
                      <a:r>
                        <a:rPr lang="ko-KR" altLang="en-US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강화</a:t>
                      </a:r>
                      <a:endParaRPr lang="ko-KR" altLang="en-US" sz="14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ko-KR" altLang="en-US" sz="1400" b="1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잔존율</a:t>
                      </a:r>
                      <a:r>
                        <a:rPr lang="ko-KR" altLang="en-US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및 </a:t>
                      </a:r>
                      <a:r>
                        <a:rPr lang="ko-KR" altLang="en-US" sz="1400" b="1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리텐션</a:t>
                      </a:r>
                      <a:r>
                        <a:rPr lang="ko-KR" altLang="en-US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향상</a:t>
                      </a:r>
                      <a:endParaRPr lang="en-US" altLang="ko-KR" sz="1400" b="1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ko-KR" alt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시각적 만족도는 </a:t>
                      </a:r>
                      <a:r>
                        <a:rPr lang="ko-KR" altLang="en-US" sz="1400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서브컬처</a:t>
                      </a:r>
                      <a:r>
                        <a:rPr lang="ko-KR" alt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유저의 핵심 과금 동기이자 </a:t>
                      </a:r>
                      <a:br>
                        <a:rPr lang="en-US" altLang="ko-KR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</a:br>
                      <a:r>
                        <a:rPr lang="ko-KR" alt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캐릭터에 대한 애착</a:t>
                      </a:r>
                      <a:r>
                        <a:rPr lang="en-US" altLang="ko-KR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(Attachment)</a:t>
                      </a:r>
                      <a:r>
                        <a:rPr lang="ko-KR" alt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을 높여</a:t>
                      </a:r>
                      <a:r>
                        <a:rPr lang="en-US" altLang="ko-KR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</a:t>
                      </a:r>
                      <a:br>
                        <a:rPr lang="en-US" altLang="ko-KR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</a:br>
                      <a:r>
                        <a:rPr lang="ko-KR" alt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콘텐츠 소진 후에도 </a:t>
                      </a:r>
                      <a:r>
                        <a:rPr lang="en-US" altLang="ko-KR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'</a:t>
                      </a:r>
                      <a:r>
                        <a:rPr lang="ko-KR" altLang="en-US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캐릭터 때문에</a:t>
                      </a:r>
                      <a:r>
                        <a:rPr lang="en-US" altLang="ko-KR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'</a:t>
                      </a:r>
                      <a:r>
                        <a:rPr lang="ko-KR" alt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게임의 </a:t>
                      </a:r>
                      <a:r>
                        <a:rPr lang="ko-KR" altLang="en-US" sz="1400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잔존율</a:t>
                      </a:r>
                      <a:r>
                        <a:rPr lang="ko-KR" alt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기여</a:t>
                      </a:r>
                      <a:endParaRPr lang="en-US" altLang="ko-KR" sz="14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9407406"/>
                  </a:ext>
                </a:extLst>
              </a:tr>
              <a:tr h="1536940"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en-US" altLang="ko-KR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"</a:t>
                      </a:r>
                      <a:r>
                        <a:rPr lang="ko-KR" altLang="en-US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전략적인 요소가 재미있다</a:t>
                      </a:r>
                      <a:r>
                        <a:rPr lang="en-US" altLang="ko-KR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."</a:t>
                      </a:r>
                      <a:endParaRPr lang="ko-KR" altLang="en-US" sz="14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en-US" altLang="ko-KR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'</a:t>
                      </a:r>
                      <a:r>
                        <a:rPr lang="ko-KR" altLang="en-US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위험 예측</a:t>
                      </a:r>
                      <a:r>
                        <a:rPr lang="en-US" altLang="ko-KR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-</a:t>
                      </a:r>
                      <a:r>
                        <a:rPr lang="ko-KR" altLang="en-US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전술 수립</a:t>
                      </a:r>
                      <a:r>
                        <a:rPr lang="en-US" altLang="ko-KR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-</a:t>
                      </a:r>
                      <a:r>
                        <a:rPr lang="ko-KR" altLang="en-US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쾌감 획득</a:t>
                      </a:r>
                      <a:r>
                        <a:rPr lang="en-US" altLang="ko-KR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' </a:t>
                      </a:r>
                      <a:r>
                        <a:rPr lang="ko-KR" altLang="en-US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고도화 사이클</a:t>
                      </a:r>
                      <a:endParaRPr lang="ko-KR" altLang="en-US" sz="14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ko-KR" altLang="en-US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코어 유저 만족도 및 플레이 시간 증대</a:t>
                      </a:r>
                      <a:endParaRPr lang="en-US" altLang="ko-KR" sz="1400" b="1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ko-KR" alt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깊이 있는 전술적 재미는 게임의 코어 </a:t>
                      </a:r>
                      <a:r>
                        <a:rPr lang="ko-KR" altLang="en-US" sz="1400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펀</a:t>
                      </a:r>
                      <a:r>
                        <a:rPr lang="en-US" altLang="ko-KR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(Core Fun)</a:t>
                      </a:r>
                      <a:r>
                        <a:rPr lang="ko-KR" alt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을 </a:t>
                      </a:r>
                      <a:br>
                        <a:rPr lang="en-US" altLang="ko-KR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</a:br>
                      <a:r>
                        <a:rPr lang="ko-KR" alt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형성하여</a:t>
                      </a:r>
                      <a:r>
                        <a:rPr lang="en-US" altLang="ko-KR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‘</a:t>
                      </a:r>
                      <a:r>
                        <a:rPr lang="ko-KR" alt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한계 측정</a:t>
                      </a:r>
                      <a:r>
                        <a:rPr lang="en-US" altLang="ko-KR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과 같은 도전 콘텐츠의 </a:t>
                      </a:r>
                      <a:br>
                        <a:rPr lang="en-US" altLang="ko-KR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</a:br>
                      <a:r>
                        <a:rPr lang="ko-KR" altLang="en-US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숙련 가치</a:t>
                      </a:r>
                      <a:r>
                        <a:rPr lang="ko-KR" alt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를 부여하고</a:t>
                      </a:r>
                      <a:r>
                        <a:rPr lang="en-US" altLang="ko-KR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ko-KR" alt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숙련된 유저들의 </a:t>
                      </a:r>
                      <a:r>
                        <a:rPr lang="ko-KR" altLang="en-US" sz="1400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리텐션</a:t>
                      </a:r>
                      <a:r>
                        <a:rPr lang="ko-KR" alt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방어</a:t>
                      </a:r>
                      <a:endParaRPr lang="en-US" altLang="ko-KR" sz="14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659558"/>
                  </a:ext>
                </a:extLst>
              </a:tr>
              <a:tr h="1357298"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en-US" altLang="ko-KR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"BM</a:t>
                      </a:r>
                      <a:r>
                        <a:rPr lang="ko-KR" altLang="en-US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이 가성비가 좋다</a:t>
                      </a:r>
                      <a:r>
                        <a:rPr lang="en-US" altLang="ko-KR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."</a:t>
                      </a:r>
                      <a:endParaRPr lang="ko-KR" altLang="en-US" sz="14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ko-KR" altLang="en-US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패스</a:t>
                      </a:r>
                      <a:r>
                        <a:rPr lang="en-US" altLang="ko-KR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/</a:t>
                      </a:r>
                      <a:r>
                        <a:rPr lang="ko-KR" altLang="en-US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월정액 기반의 </a:t>
                      </a:r>
                      <a:r>
                        <a:rPr lang="en-US" altLang="ko-KR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'</a:t>
                      </a:r>
                      <a:r>
                        <a:rPr lang="ko-KR" altLang="en-US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가성비 박리다매</a:t>
                      </a:r>
                      <a:r>
                        <a:rPr lang="en-US" altLang="ko-KR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' </a:t>
                      </a:r>
                      <a:r>
                        <a:rPr lang="ko-KR" altLang="en-US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전략</a:t>
                      </a:r>
                      <a:endParaRPr lang="ko-KR" altLang="en-US" sz="14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ko-KR" altLang="en-US" sz="1400" b="1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유저풀</a:t>
                      </a:r>
                      <a:r>
                        <a:rPr lang="ko-KR" altLang="en-US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확장 및 </a:t>
                      </a:r>
                      <a:r>
                        <a:rPr lang="en-US" altLang="ko-KR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ARPU </a:t>
                      </a:r>
                      <a:r>
                        <a:rPr lang="ko-KR" altLang="en-US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안정화</a:t>
                      </a:r>
                      <a:endParaRPr lang="en-US" altLang="ko-KR" sz="1400" b="1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ko-KR" alt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초기 과금 진입 장벽을 낮춰 </a:t>
                      </a:r>
                      <a:r>
                        <a:rPr lang="ko-KR" altLang="en-US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신규</a:t>
                      </a:r>
                      <a:r>
                        <a:rPr lang="en-US" altLang="ko-KR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/</a:t>
                      </a:r>
                      <a:r>
                        <a:rPr lang="ko-KR" altLang="en-US" sz="1400" b="1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중소과금</a:t>
                      </a:r>
                      <a:r>
                        <a:rPr lang="ko-KR" altLang="en-US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유저의 유입과 초기 정착</a:t>
                      </a:r>
                      <a:r>
                        <a:rPr lang="ko-KR" alt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을 유도하여</a:t>
                      </a:r>
                      <a:r>
                        <a:rPr lang="en-US" altLang="ko-KR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</a:t>
                      </a:r>
                      <a:r>
                        <a:rPr lang="ko-KR" alt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ko-KR" altLang="en-US" sz="1400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고과금자에</a:t>
                      </a:r>
                      <a:r>
                        <a:rPr lang="ko-KR" alt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대한 의존도를 낮추고 </a:t>
                      </a:r>
                      <a:br>
                        <a:rPr lang="en-US" altLang="ko-KR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</a:br>
                      <a:r>
                        <a:rPr lang="ko-KR" alt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유저풀을 넓혀 </a:t>
                      </a:r>
                      <a:r>
                        <a:rPr lang="ko-KR" altLang="en-US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장기적인 매출 기반 및 안정성 </a:t>
                      </a:r>
                      <a:r>
                        <a:rPr lang="ko-KR" alt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확보</a:t>
                      </a:r>
                      <a:endParaRPr lang="en-US" altLang="ko-KR" sz="14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64232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3365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2DA85-CB26-B453-C8F1-29E956B89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485CCA16-CE39-BA92-4A6E-CE33990CBD71}"/>
              </a:ext>
            </a:extLst>
          </p:cNvPr>
          <p:cNvSpPr/>
          <p:nvPr/>
        </p:nvSpPr>
        <p:spPr>
          <a:xfrm>
            <a:off x="0" y="764161"/>
            <a:ext cx="12192000" cy="36933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50" name="Picture 2" descr="소녀전선2 : 망명 12월 5일 09:00 오픈">
            <a:extLst>
              <a:ext uri="{FF2B5EF4-FFF2-40B4-BE49-F238E27FC236}">
                <a16:creationId xmlns:a16="http://schemas.microsoft.com/office/drawing/2014/main" id="{6BDC2AAF-724D-3819-E4C0-D75D1F386B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8980"/>
          <a:stretch/>
        </p:blipFill>
        <p:spPr bwMode="auto">
          <a:xfrm>
            <a:off x="0" y="0"/>
            <a:ext cx="12192000" cy="755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B4B2D5-94B5-58E5-74C8-FFD47475423C}"/>
              </a:ext>
            </a:extLst>
          </p:cNvPr>
          <p:cNvSpPr txBox="1"/>
          <p:nvPr/>
        </p:nvSpPr>
        <p:spPr>
          <a:xfrm>
            <a:off x="931334" y="795865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1.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게임소개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D74D7B-DD09-986C-E3CD-472516AF7979}"/>
              </a:ext>
            </a:extLst>
          </p:cNvPr>
          <p:cNvSpPr txBox="1"/>
          <p:nvPr/>
        </p:nvSpPr>
        <p:spPr>
          <a:xfrm>
            <a:off x="3386666" y="772534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2.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컨텐츠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125154-55E7-5AB9-CA9B-F988231DC931}"/>
              </a:ext>
            </a:extLst>
          </p:cNvPr>
          <p:cNvSpPr txBox="1"/>
          <p:nvPr/>
        </p:nvSpPr>
        <p:spPr>
          <a:xfrm>
            <a:off x="9313333" y="772534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4.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사업적 분석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DF5A5E-0278-4C20-BBF0-CEBBDDC96479}"/>
              </a:ext>
            </a:extLst>
          </p:cNvPr>
          <p:cNvSpPr txBox="1"/>
          <p:nvPr/>
        </p:nvSpPr>
        <p:spPr>
          <a:xfrm>
            <a:off x="6349999" y="764161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3. </a:t>
            </a:r>
            <a:r>
              <a:rPr lang="ko-KR" altLang="en-US" b="1" dirty="0"/>
              <a:t>플레이 분석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27A106CD-0432-74A8-536F-83B48ED1B1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0062373"/>
              </p:ext>
            </p:extLst>
          </p:nvPr>
        </p:nvGraphicFramePr>
        <p:xfrm>
          <a:off x="342900" y="1688330"/>
          <a:ext cx="11368454" cy="4671094"/>
        </p:xfrm>
        <a:graphic>
          <a:graphicData uri="http://schemas.openxmlformats.org/drawingml/2006/table">
            <a:tbl>
              <a:tblPr/>
              <a:tblGrid>
                <a:gridCol w="3372077">
                  <a:extLst>
                    <a:ext uri="{9D8B030D-6E8A-4147-A177-3AD203B41FA5}">
                      <a16:colId xmlns:a16="http://schemas.microsoft.com/office/drawing/2014/main" val="3788825161"/>
                    </a:ext>
                  </a:extLst>
                </a:gridCol>
                <a:gridCol w="7996377">
                  <a:extLst>
                    <a:ext uri="{9D8B030D-6E8A-4147-A177-3AD203B41FA5}">
                      <a16:colId xmlns:a16="http://schemas.microsoft.com/office/drawing/2014/main" val="3064675330"/>
                    </a:ext>
                  </a:extLst>
                </a:gridCol>
              </a:tblGrid>
              <a:tr h="495449"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ko-KR" altLang="en-US" sz="16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개선 과제</a:t>
                      </a:r>
                      <a:endParaRPr lang="ko-KR" altLang="en-US" sz="16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80780" marR="80780" marT="53853" marB="538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ko-KR" altLang="en-US" sz="16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서클</a:t>
                      </a:r>
                      <a:r>
                        <a:rPr lang="en-US" altLang="ko-KR" sz="16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ko-KR" altLang="en-US" sz="16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길드</a:t>
                      </a:r>
                      <a:r>
                        <a:rPr lang="en-US" altLang="ko-KR" sz="16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) </a:t>
                      </a:r>
                      <a:r>
                        <a:rPr lang="ko-KR" altLang="en-US" sz="16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내 커뮤니티 기능 강화</a:t>
                      </a:r>
                      <a:endParaRPr lang="ko-KR" altLang="en-US" sz="16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80780" marR="80780" marT="53853" marB="538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850889"/>
                  </a:ext>
                </a:extLst>
              </a:tr>
              <a:tr h="301578"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ko-KR" altLang="en-US" sz="16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문제 진단</a:t>
                      </a:r>
                      <a:endParaRPr lang="ko-KR" altLang="en-US" sz="16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80780" marR="80780" marT="53853" marB="538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ko-KR" altLang="en-US" sz="1600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인게임</a:t>
                      </a:r>
                      <a:r>
                        <a:rPr lang="ko-KR" altLang="en-US" sz="16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유저 간 유대 및 결속</a:t>
                      </a:r>
                      <a:r>
                        <a:rPr lang="en-US" altLang="ko-KR" sz="16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(Retention Factor) </a:t>
                      </a:r>
                      <a:r>
                        <a:rPr lang="ko-KR" altLang="en-US" sz="16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저해</a:t>
                      </a:r>
                    </a:p>
                  </a:txBody>
                  <a:tcPr marL="80780" marR="80780" marT="53853" marB="538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9393546"/>
                  </a:ext>
                </a:extLst>
              </a:tr>
              <a:tr h="301578"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ko-KR" altLang="en-US" sz="16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핵심 기대 효과 </a:t>
                      </a:r>
                      <a:r>
                        <a:rPr lang="en-US" altLang="ko-KR" sz="16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(KPI </a:t>
                      </a:r>
                      <a:r>
                        <a:rPr lang="ko-KR" altLang="en-US" sz="16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연결</a:t>
                      </a:r>
                      <a:r>
                        <a:rPr lang="en-US" altLang="ko-KR" sz="16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)</a:t>
                      </a:r>
                      <a:endParaRPr lang="ko-KR" altLang="en-US" sz="16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80780" marR="80780" marT="53853" marB="538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ko-KR" altLang="en-US" sz="1600" b="1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잔존율</a:t>
                      </a:r>
                      <a:r>
                        <a:rPr lang="ko-KR" altLang="en-US" sz="16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altLang="ko-KR" sz="16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(Retention) </a:t>
                      </a:r>
                      <a:r>
                        <a:rPr lang="ko-KR" altLang="en-US" sz="16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상승 및 이탈 방어 강화</a:t>
                      </a:r>
                      <a:endParaRPr lang="ko-KR" altLang="en-US" sz="16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80780" marR="80780" marT="53853" marB="538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4383062"/>
                  </a:ext>
                </a:extLst>
              </a:tr>
              <a:tr h="826325">
                <a:tc gridSpan="2"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ko-KR" altLang="en-US" sz="16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구체적 효과</a:t>
                      </a:r>
                      <a:endParaRPr lang="ko-KR" altLang="en-US" sz="16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80780" marR="80780" marT="53853" marB="538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endParaRPr lang="ko-KR" altLang="en-US" sz="16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80780" marR="80780" marT="53853" marB="5385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0089021"/>
                  </a:ext>
                </a:extLst>
              </a:tr>
              <a:tr h="883192"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en-US" altLang="ko-KR" sz="16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1.</a:t>
                      </a:r>
                      <a:r>
                        <a:rPr lang="ko-KR" altLang="en-US" sz="16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유저 </a:t>
                      </a:r>
                      <a:r>
                        <a:rPr lang="ko-KR" altLang="en-US" sz="1600" b="1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잔존율</a:t>
                      </a:r>
                      <a:r>
                        <a:rPr lang="ko-KR" altLang="en-US" sz="16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altLang="ko-KR" sz="16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(Retention) </a:t>
                      </a:r>
                      <a:r>
                        <a:rPr lang="ko-KR" altLang="en-US" sz="16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향상</a:t>
                      </a:r>
                      <a:endParaRPr lang="ko-KR" altLang="en-US" sz="16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80780" marR="80780" marT="53853" marB="538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ko-KR" altLang="en-US" sz="16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유저가 서클을 통해 게임 외적인 관계를 형성하면</a:t>
                      </a:r>
                      <a:r>
                        <a:rPr lang="en-US" altLang="ko-KR" sz="16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ko-KR" altLang="en-US" sz="16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단순히 콘텐츠가 소진되어도 </a:t>
                      </a:r>
                      <a:br>
                        <a:rPr lang="en-US" altLang="ko-KR" sz="16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</a:br>
                      <a:r>
                        <a:rPr lang="en-US" altLang="ko-KR" sz="16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'</a:t>
                      </a:r>
                      <a:r>
                        <a:rPr lang="ko-KR" altLang="en-US" sz="16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사람 때문에</a:t>
                      </a:r>
                      <a:r>
                        <a:rPr lang="en-US" altLang="ko-KR" sz="16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'</a:t>
                      </a:r>
                      <a:r>
                        <a:rPr lang="ko-KR" altLang="en-US" sz="16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게임에 접속하는 동기가 생겨 일간</a:t>
                      </a:r>
                      <a:r>
                        <a:rPr lang="en-US" altLang="ko-KR" sz="16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/</a:t>
                      </a:r>
                      <a:r>
                        <a:rPr lang="ko-KR" altLang="en-US" sz="16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주간 잔존율이 상승 기대</a:t>
                      </a:r>
                      <a:endParaRPr lang="en-US" altLang="ko-KR" sz="16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80780" marR="80780" marT="53853" marB="538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3644457"/>
                  </a:ext>
                </a:extLst>
              </a:tr>
              <a:tr h="689321"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en-US" altLang="ko-KR" sz="16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2.</a:t>
                      </a:r>
                      <a:r>
                        <a:rPr lang="ko-KR" altLang="en-US" sz="16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콘텐츠 플레이 타임 증가</a:t>
                      </a:r>
                      <a:endParaRPr lang="ko-KR" altLang="en-US" sz="16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80780" marR="80780" marT="53853" marB="538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ko-KR" altLang="en-US" sz="16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서클 협동 콘텐츠의 참여율이 높아지고</a:t>
                      </a:r>
                      <a:r>
                        <a:rPr lang="en-US" altLang="ko-KR" sz="16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ko-KR" altLang="en-US" sz="16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소통을 위한 </a:t>
                      </a:r>
                      <a:br>
                        <a:rPr lang="en-US" altLang="ko-KR" sz="16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</a:br>
                      <a:r>
                        <a:rPr lang="ko-KR" altLang="en-US" sz="16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자발적인 접속 빈도</a:t>
                      </a:r>
                      <a:r>
                        <a:rPr lang="ko-KR" altLang="en-US" sz="16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가 증가하여 전체 플레이 타임</a:t>
                      </a:r>
                      <a:r>
                        <a:rPr lang="en-US" altLang="ko-KR" sz="16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(MAU/DAU)</a:t>
                      </a:r>
                      <a:r>
                        <a:rPr lang="ko-KR" altLang="en-US" sz="16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기대</a:t>
                      </a:r>
                      <a:endParaRPr lang="en-US" altLang="ko-KR" sz="16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80780" marR="80780" marT="53853" marB="538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0151855"/>
                  </a:ext>
                </a:extLst>
              </a:tr>
              <a:tr h="689321"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en-US" sz="16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3. ARPU </a:t>
                      </a:r>
                      <a:r>
                        <a:rPr lang="ko-KR" altLang="en-US" sz="16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안정화 기여</a:t>
                      </a:r>
                      <a:endParaRPr lang="ko-KR" altLang="en-US" sz="16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80780" marR="80780" marT="53853" marB="538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ko-KR" altLang="en-US" sz="16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서클 단위의 경쟁</a:t>
                      </a:r>
                      <a:r>
                        <a:rPr lang="en-US" altLang="ko-KR" sz="16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/</a:t>
                      </a:r>
                      <a:r>
                        <a:rPr lang="ko-KR" altLang="en-US" sz="16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협동 보상 시스템을 설계를 보강하면</a:t>
                      </a:r>
                      <a:r>
                        <a:rPr lang="en-US" altLang="ko-KR" sz="16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</a:t>
                      </a:r>
                      <a:br>
                        <a:rPr lang="en-US" altLang="ko-KR" sz="16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</a:br>
                      <a:r>
                        <a:rPr lang="ko-KR" altLang="en-US" sz="16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서클 내 </a:t>
                      </a:r>
                      <a:r>
                        <a:rPr lang="ko-KR" altLang="en-US" sz="16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경쟁 심리</a:t>
                      </a:r>
                      <a:r>
                        <a:rPr lang="ko-KR" altLang="en-US" sz="16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나 </a:t>
                      </a:r>
                      <a:r>
                        <a:rPr lang="ko-KR" altLang="en-US" sz="16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기여 심리</a:t>
                      </a:r>
                      <a:r>
                        <a:rPr lang="ko-KR" altLang="en-US" sz="16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가 작용하여 성장 가속을 위한 구매 촉진 기대</a:t>
                      </a:r>
                      <a:endParaRPr lang="en-US" altLang="ko-KR" sz="16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80780" marR="80780" marT="53853" marB="538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80009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10308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11C07-5310-DF78-CD6C-7F2733738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E03B4848-1140-8A63-B1B3-8DA8C2FE8F73}"/>
              </a:ext>
            </a:extLst>
          </p:cNvPr>
          <p:cNvSpPr/>
          <p:nvPr/>
        </p:nvSpPr>
        <p:spPr>
          <a:xfrm>
            <a:off x="0" y="764161"/>
            <a:ext cx="12192000" cy="36933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50" name="Picture 2" descr="소녀전선2 : 망명 12월 5일 09:00 오픈">
            <a:extLst>
              <a:ext uri="{FF2B5EF4-FFF2-40B4-BE49-F238E27FC236}">
                <a16:creationId xmlns:a16="http://schemas.microsoft.com/office/drawing/2014/main" id="{A832D4B8-1957-EA48-0A67-0043B03CFE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8980"/>
          <a:stretch/>
        </p:blipFill>
        <p:spPr bwMode="auto">
          <a:xfrm>
            <a:off x="0" y="0"/>
            <a:ext cx="12192000" cy="755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46533E0-68B0-524E-E4D7-94F612560245}"/>
              </a:ext>
            </a:extLst>
          </p:cNvPr>
          <p:cNvSpPr txBox="1"/>
          <p:nvPr/>
        </p:nvSpPr>
        <p:spPr>
          <a:xfrm>
            <a:off x="931334" y="795865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1.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게임소개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DF9601-68CE-E666-5DE9-1A8549E583F4}"/>
              </a:ext>
            </a:extLst>
          </p:cNvPr>
          <p:cNvSpPr txBox="1"/>
          <p:nvPr/>
        </p:nvSpPr>
        <p:spPr>
          <a:xfrm>
            <a:off x="3386666" y="772534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2.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컨텐츠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933847-C10D-B9B4-B02A-663F45CB9A17}"/>
              </a:ext>
            </a:extLst>
          </p:cNvPr>
          <p:cNvSpPr txBox="1"/>
          <p:nvPr/>
        </p:nvSpPr>
        <p:spPr>
          <a:xfrm>
            <a:off x="9313333" y="772534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4.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사업적 분석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06FD19-383B-2C04-16BE-ED30C36C2F9D}"/>
              </a:ext>
            </a:extLst>
          </p:cNvPr>
          <p:cNvSpPr txBox="1"/>
          <p:nvPr/>
        </p:nvSpPr>
        <p:spPr>
          <a:xfrm>
            <a:off x="6349999" y="764161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3. </a:t>
            </a:r>
            <a:r>
              <a:rPr lang="ko-KR" altLang="en-US" b="1" dirty="0"/>
              <a:t>플레이 분석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85EC0C94-E1DE-7F07-2520-A0D6B134A2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1240862"/>
              </p:ext>
            </p:extLst>
          </p:nvPr>
        </p:nvGraphicFramePr>
        <p:xfrm>
          <a:off x="633045" y="1588235"/>
          <a:ext cx="11236569" cy="4984103"/>
        </p:xfrm>
        <a:graphic>
          <a:graphicData uri="http://schemas.openxmlformats.org/drawingml/2006/table">
            <a:tbl>
              <a:tblPr/>
              <a:tblGrid>
                <a:gridCol w="3484718">
                  <a:extLst>
                    <a:ext uri="{9D8B030D-6E8A-4147-A177-3AD203B41FA5}">
                      <a16:colId xmlns:a16="http://schemas.microsoft.com/office/drawing/2014/main" val="2347322251"/>
                    </a:ext>
                  </a:extLst>
                </a:gridCol>
                <a:gridCol w="7751851">
                  <a:extLst>
                    <a:ext uri="{9D8B030D-6E8A-4147-A177-3AD203B41FA5}">
                      <a16:colId xmlns:a16="http://schemas.microsoft.com/office/drawing/2014/main" val="164134187"/>
                    </a:ext>
                  </a:extLst>
                </a:gridCol>
              </a:tblGrid>
              <a:tr h="437034"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ko-KR" altLang="en-US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개선 과제</a:t>
                      </a:r>
                      <a:endParaRPr lang="ko-KR" altLang="en-US" sz="14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1256" marR="7125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en-US" altLang="ko-KR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SRPG </a:t>
                      </a:r>
                      <a:r>
                        <a:rPr lang="ko-KR" altLang="en-US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특성에 맞는 유저 친화적 정보 통합 및 </a:t>
                      </a:r>
                      <a:r>
                        <a:rPr lang="en-US" altLang="ko-KR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UI/UX </a:t>
                      </a:r>
                      <a:r>
                        <a:rPr lang="ko-KR" altLang="en-US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개선</a:t>
                      </a:r>
                      <a:endParaRPr lang="ko-KR" altLang="en-US" sz="14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1256" marR="7125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4552150"/>
                  </a:ext>
                </a:extLst>
              </a:tr>
              <a:tr h="437034"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ko-KR" altLang="en-US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문제 진단</a:t>
                      </a:r>
                      <a:endParaRPr lang="ko-KR" altLang="en-US" sz="14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1256" marR="7125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ko-KR" altLang="en-US" sz="14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복잡한 </a:t>
                      </a:r>
                      <a:r>
                        <a:rPr lang="en-US" altLang="ko-KR" sz="14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UI/UX</a:t>
                      </a:r>
                      <a:r>
                        <a:rPr lang="ko-KR" altLang="en-US" sz="14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가 장르 신규 유저의 진입 장벽을 급격히 높여 유저 유입 풀 축소</a:t>
                      </a:r>
                    </a:p>
                  </a:txBody>
                  <a:tcPr marL="71256" marR="7125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1112803"/>
                  </a:ext>
                </a:extLst>
              </a:tr>
              <a:tr h="437034"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ko-KR" altLang="en-US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핵심 기대 효과 </a:t>
                      </a:r>
                      <a:r>
                        <a:rPr lang="en-US" altLang="ko-KR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(KPI </a:t>
                      </a:r>
                      <a:r>
                        <a:rPr lang="ko-KR" altLang="en-US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연결</a:t>
                      </a:r>
                      <a:r>
                        <a:rPr lang="en-US" altLang="ko-KR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)</a:t>
                      </a:r>
                      <a:endParaRPr lang="ko-KR" altLang="en-US" sz="14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1256" marR="7125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ko-KR" altLang="en-US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신규 유저 유입 및 튜토리얼 통과율 </a:t>
                      </a:r>
                      <a:r>
                        <a:rPr lang="en-US" altLang="ko-KR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(Conversion) </a:t>
                      </a:r>
                      <a:r>
                        <a:rPr lang="ko-KR" altLang="en-US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개선</a:t>
                      </a:r>
                      <a:endParaRPr lang="ko-KR" altLang="en-US" sz="14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1256" marR="7125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1987146"/>
                  </a:ext>
                </a:extLst>
              </a:tr>
              <a:tr h="714301">
                <a:tc gridSpan="2"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ko-KR" altLang="en-US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구체적 효과</a:t>
                      </a:r>
                      <a:endParaRPr lang="ko-KR" altLang="en-US" sz="14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1256" marR="7125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endParaRPr lang="ko-KR" altLang="en-US" sz="14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1256" marR="7125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7493042"/>
                  </a:ext>
                </a:extLst>
              </a:tr>
              <a:tr h="779060"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en-US" altLang="ko-KR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1.</a:t>
                      </a:r>
                      <a:r>
                        <a:rPr lang="ko-KR" altLang="en-US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신규 유저 유입 풀 확장</a:t>
                      </a:r>
                      <a:endParaRPr lang="ko-KR" altLang="en-US" sz="14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1256" marR="7125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ko-KR" alt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진입 장벽이 낮아지면 </a:t>
                      </a:r>
                      <a:r>
                        <a:rPr lang="ko-KR" altLang="en-US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광고나 마케팅</a:t>
                      </a:r>
                      <a:r>
                        <a:rPr lang="ko-KR" alt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을 통해 유입된 신규 유저가 </a:t>
                      </a:r>
                      <a:br>
                        <a:rPr lang="en-US" altLang="ko-KR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</a:br>
                      <a:r>
                        <a:rPr lang="ko-KR" altLang="en-US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게임의 핵심 재미</a:t>
                      </a:r>
                      <a:r>
                        <a:rPr lang="en-US" altLang="ko-KR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(Fun)</a:t>
                      </a:r>
                      <a:r>
                        <a:rPr lang="ko-KR" altLang="en-US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에 도달</a:t>
                      </a:r>
                      <a:r>
                        <a:rPr lang="ko-KR" alt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하기 쉬워져</a:t>
                      </a:r>
                      <a:r>
                        <a:rPr lang="en-US" altLang="ko-KR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ko-KR" alt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이는 잠재적인 </a:t>
                      </a:r>
                      <a:r>
                        <a:rPr lang="en-US" altLang="ko-KR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MAU(</a:t>
                      </a:r>
                      <a:r>
                        <a:rPr lang="ko-KR" alt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월간 활성 이용자 수</a:t>
                      </a:r>
                      <a:r>
                        <a:rPr lang="en-US" altLang="ko-KR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) </a:t>
                      </a:r>
                      <a:r>
                        <a:rPr lang="ko-KR" alt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증가로 기대</a:t>
                      </a:r>
                      <a:endParaRPr lang="en-US" altLang="ko-KR" sz="14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1256" marR="7125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6851058"/>
                  </a:ext>
                </a:extLst>
              </a:tr>
              <a:tr h="779060"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en-US" altLang="ko-KR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2.</a:t>
                      </a:r>
                      <a:r>
                        <a:rPr lang="ko-KR" altLang="en-US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튜토리얼</a:t>
                      </a:r>
                      <a:r>
                        <a:rPr lang="en-US" altLang="ko-KR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/</a:t>
                      </a:r>
                      <a:r>
                        <a:rPr lang="ko-KR" altLang="en-US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초반 구간 </a:t>
                      </a:r>
                      <a:r>
                        <a:rPr lang="ko-KR" altLang="en-US" sz="1400" b="1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이탈률</a:t>
                      </a:r>
                      <a:r>
                        <a:rPr lang="ko-KR" altLang="en-US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감소</a:t>
                      </a:r>
                      <a:endParaRPr lang="ko-KR" altLang="en-US" sz="14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1256" marR="7125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en-US" altLang="ko-KR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SRPG</a:t>
                      </a:r>
                      <a:r>
                        <a:rPr lang="ko-KR" alt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의 복잡한 규칙이나 정보</a:t>
                      </a:r>
                      <a:r>
                        <a:rPr lang="en-US" altLang="ko-KR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ko-KR" alt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예</a:t>
                      </a:r>
                      <a:r>
                        <a:rPr lang="en-US" altLang="ko-KR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: </a:t>
                      </a:r>
                      <a:r>
                        <a:rPr lang="ko-KR" alt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엄폐</a:t>
                      </a:r>
                      <a:r>
                        <a:rPr lang="en-US" altLang="ko-KR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ko-KR" alt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사거리</a:t>
                      </a:r>
                      <a:r>
                        <a:rPr lang="en-US" altLang="ko-KR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ko-KR" alt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확률 등</a:t>
                      </a:r>
                      <a:r>
                        <a:rPr lang="en-US" altLang="ko-KR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)</a:t>
                      </a:r>
                      <a:r>
                        <a:rPr lang="ko-KR" alt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를 직관적으로 제공하면</a:t>
                      </a:r>
                      <a:r>
                        <a:rPr lang="en-US" altLang="ko-KR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</a:t>
                      </a:r>
                      <a:br>
                        <a:rPr lang="en-US" altLang="ko-KR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</a:br>
                      <a:r>
                        <a:rPr lang="ko-KR" alt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게임 시스템을 이해하지 못해 포기하는 유저가 줄어들어 초반 </a:t>
                      </a:r>
                      <a:r>
                        <a:rPr lang="ko-KR" altLang="en-US" sz="1400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이탈률</a:t>
                      </a:r>
                      <a:r>
                        <a:rPr lang="en-US" altLang="ko-KR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(Drop-off Rate)</a:t>
                      </a:r>
                      <a:r>
                        <a:rPr lang="ko-KR" alt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감소 기대</a:t>
                      </a:r>
                      <a:endParaRPr lang="en-US" altLang="ko-KR" sz="14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1256" marR="7125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81220"/>
                  </a:ext>
                </a:extLst>
              </a:tr>
              <a:tr h="608047"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en-US" altLang="ko-KR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3.</a:t>
                      </a:r>
                      <a:r>
                        <a:rPr lang="ko-KR" altLang="en-US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플레이 경험의 질 향상</a:t>
                      </a:r>
                      <a:endParaRPr lang="ko-KR" altLang="en-US" sz="14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1256" marR="7125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ko-KR" alt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유저가 </a:t>
                      </a:r>
                      <a:r>
                        <a:rPr lang="ko-KR" altLang="en-US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정보를 찾는 시간</a:t>
                      </a:r>
                      <a:r>
                        <a:rPr lang="ko-KR" alt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을 줄이고 </a:t>
                      </a:r>
                      <a:r>
                        <a:rPr lang="ko-KR" altLang="en-US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전략을 고민하는 시간</a:t>
                      </a:r>
                      <a:r>
                        <a:rPr lang="ko-KR" alt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에 집중하게 되어</a:t>
                      </a:r>
                      <a:r>
                        <a:rPr lang="en-US" altLang="ko-KR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</a:t>
                      </a:r>
                      <a:br>
                        <a:rPr lang="en-US" altLang="ko-KR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</a:br>
                      <a:r>
                        <a:rPr lang="ko-KR" alt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게임의 핵심 재미인 </a:t>
                      </a:r>
                      <a:r>
                        <a:rPr lang="en-US" altLang="ko-KR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'</a:t>
                      </a:r>
                      <a:r>
                        <a:rPr lang="ko-KR" altLang="en-US" sz="1400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택틱</a:t>
                      </a:r>
                      <a:r>
                        <a:rPr lang="ko-KR" alt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쾌감</a:t>
                      </a:r>
                      <a:r>
                        <a:rPr lang="en-US" altLang="ko-KR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이 더욱 강화</a:t>
                      </a:r>
                      <a:endParaRPr lang="en-US" altLang="ko-KR" sz="14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1256" marR="7125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746466"/>
                  </a:ext>
                </a:extLst>
              </a:tr>
              <a:tr h="608047"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en-US" altLang="ko-KR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4.</a:t>
                      </a:r>
                      <a:r>
                        <a:rPr lang="ko-KR" altLang="en-US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긍정적 입소문 </a:t>
                      </a:r>
                      <a:r>
                        <a:rPr lang="en-US" altLang="ko-KR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en-US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Retention &amp; Virality)</a:t>
                      </a:r>
                      <a:endParaRPr lang="en-US" sz="14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1256" marR="7125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en-US" altLang="ko-KR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"SRPG</a:t>
                      </a:r>
                      <a:r>
                        <a:rPr lang="ko-KR" alt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인데도 어렵지 않다</a:t>
                      </a:r>
                      <a:r>
                        <a:rPr lang="en-US" altLang="ko-KR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"</a:t>
                      </a:r>
                      <a:r>
                        <a:rPr lang="ko-KR" alt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는 긍정적인 평가가 생겨나면</a:t>
                      </a:r>
                      <a:r>
                        <a:rPr lang="en-US" altLang="ko-KR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</a:t>
                      </a:r>
                      <a:br>
                        <a:rPr lang="en-US" altLang="ko-KR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</a:br>
                      <a:r>
                        <a:rPr lang="ko-KR" alt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바이럴 마케팅 효과를 얻어 </a:t>
                      </a:r>
                      <a:r>
                        <a:rPr lang="ko-KR" altLang="en-US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추가적인 유저 유입</a:t>
                      </a:r>
                      <a:r>
                        <a:rPr lang="ko-KR" alt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에 기대</a:t>
                      </a:r>
                      <a:endParaRPr lang="en-US" altLang="ko-KR" sz="14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1256" marR="71256" marT="47504" marB="47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79453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25726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B127A-53D2-9633-8265-56417DDA2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B3AF8241-6B71-8E23-A64F-3B20933E6630}"/>
              </a:ext>
            </a:extLst>
          </p:cNvPr>
          <p:cNvSpPr/>
          <p:nvPr/>
        </p:nvSpPr>
        <p:spPr>
          <a:xfrm>
            <a:off x="0" y="764161"/>
            <a:ext cx="12192000" cy="36933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50" name="Picture 2" descr="소녀전선2 : 망명 12월 5일 09:00 오픈">
            <a:extLst>
              <a:ext uri="{FF2B5EF4-FFF2-40B4-BE49-F238E27FC236}">
                <a16:creationId xmlns:a16="http://schemas.microsoft.com/office/drawing/2014/main" id="{18386067-D43B-3B2D-4097-D91EEBA499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8980"/>
          <a:stretch/>
        </p:blipFill>
        <p:spPr bwMode="auto">
          <a:xfrm>
            <a:off x="0" y="0"/>
            <a:ext cx="12192000" cy="755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56FD74C-6D9E-33DD-7F3C-290149EAA4E1}"/>
              </a:ext>
            </a:extLst>
          </p:cNvPr>
          <p:cNvSpPr txBox="1"/>
          <p:nvPr/>
        </p:nvSpPr>
        <p:spPr>
          <a:xfrm>
            <a:off x="931334" y="795865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1.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게임소개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8F7663-4490-F484-63EF-9BC4A398737E}"/>
              </a:ext>
            </a:extLst>
          </p:cNvPr>
          <p:cNvSpPr txBox="1"/>
          <p:nvPr/>
        </p:nvSpPr>
        <p:spPr>
          <a:xfrm>
            <a:off x="3386666" y="772534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2.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컨텐츠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02816B-E369-1B85-FF09-16426049C98E}"/>
              </a:ext>
            </a:extLst>
          </p:cNvPr>
          <p:cNvSpPr txBox="1"/>
          <p:nvPr/>
        </p:nvSpPr>
        <p:spPr>
          <a:xfrm>
            <a:off x="9313333" y="772534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4. 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사업적 분석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3D69EB-2260-D15E-66E3-6DF7710075A7}"/>
              </a:ext>
            </a:extLst>
          </p:cNvPr>
          <p:cNvSpPr txBox="1"/>
          <p:nvPr/>
        </p:nvSpPr>
        <p:spPr>
          <a:xfrm>
            <a:off x="6349999" y="764161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3. </a:t>
            </a:r>
            <a:r>
              <a:rPr lang="ko-KR" altLang="en-US" b="1" dirty="0"/>
              <a:t>플레이 분석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1202D28-2DFC-A659-A808-5F97F24029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3834" y="1165197"/>
            <a:ext cx="6498166" cy="5334744"/>
          </a:xfrm>
          <a:prstGeom prst="rect">
            <a:avLst/>
          </a:prstGeom>
        </p:spPr>
      </p:pic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91EAE9E4-EED0-3D3A-5ADB-DDFF27DB26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887568"/>
              </p:ext>
            </p:extLst>
          </p:nvPr>
        </p:nvGraphicFramePr>
        <p:xfrm>
          <a:off x="351378" y="1597025"/>
          <a:ext cx="5168888" cy="4700871"/>
        </p:xfrm>
        <a:graphic>
          <a:graphicData uri="http://schemas.openxmlformats.org/drawingml/2006/table">
            <a:tbl>
              <a:tblPr/>
              <a:tblGrid>
                <a:gridCol w="1687762">
                  <a:extLst>
                    <a:ext uri="{9D8B030D-6E8A-4147-A177-3AD203B41FA5}">
                      <a16:colId xmlns:a16="http://schemas.microsoft.com/office/drawing/2014/main" val="3828274077"/>
                    </a:ext>
                  </a:extLst>
                </a:gridCol>
                <a:gridCol w="3481126">
                  <a:extLst>
                    <a:ext uri="{9D8B030D-6E8A-4147-A177-3AD203B41FA5}">
                      <a16:colId xmlns:a16="http://schemas.microsoft.com/office/drawing/2014/main" val="919670112"/>
                    </a:ext>
                  </a:extLst>
                </a:gridCol>
              </a:tblGrid>
              <a:tr h="403435"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endParaRPr lang="ko-KR" altLang="en-US" sz="12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08063" marR="108063" marT="72042" marB="720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ko-KR" altLang="en-US" sz="12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내용</a:t>
                      </a:r>
                      <a:endParaRPr lang="ko-KR" altLang="en-US" sz="12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08063" marR="108063" marT="72042" marB="720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3721564"/>
                  </a:ext>
                </a:extLst>
              </a:tr>
              <a:tr h="1181489"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ko-KR" altLang="en-US" sz="12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문제 근거</a:t>
                      </a:r>
                      <a:endParaRPr lang="ko-KR" altLang="en-US" sz="12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08063" marR="108063" marT="72042" marB="720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ko-KR" altLang="en-US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커뮤니티 사이트 내 </a:t>
                      </a:r>
                      <a:r>
                        <a:rPr lang="en-US" altLang="ko-KR" sz="12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'</a:t>
                      </a:r>
                      <a:r>
                        <a:rPr lang="ko-KR" altLang="en-US" sz="12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호출기</a:t>
                      </a:r>
                      <a:r>
                        <a:rPr lang="en-US" altLang="ko-KR" sz="12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'</a:t>
                      </a:r>
                      <a:r>
                        <a:rPr lang="ko-KR" altLang="en-US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검색 결과 다수 발생</a:t>
                      </a:r>
                      <a:r>
                        <a:rPr lang="en-US" altLang="ko-KR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. </a:t>
                      </a:r>
                    </a:p>
                    <a:p>
                      <a:pPr algn="ctr" rtl="0">
                        <a:lnSpc>
                          <a:spcPct val="150000"/>
                        </a:lnSpc>
                      </a:pPr>
                      <a:br>
                        <a:rPr lang="en-US" altLang="ko-KR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</a:br>
                      <a:r>
                        <a:rPr lang="en-US" altLang="ko-KR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→ </a:t>
                      </a:r>
                      <a:r>
                        <a:rPr lang="ko-KR" altLang="en-US" sz="1200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인게임</a:t>
                      </a:r>
                      <a:r>
                        <a:rPr lang="ko-KR" altLang="en-US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서클 기능의 </a:t>
                      </a:r>
                      <a:r>
                        <a:rPr lang="ko-KR" altLang="en-US" sz="12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채팅 기능 부재</a:t>
                      </a:r>
                      <a:r>
                        <a:rPr lang="ko-KR" altLang="en-US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로 </a:t>
                      </a:r>
                      <a:br>
                        <a:rPr lang="en-US" altLang="ko-KR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</a:br>
                      <a:r>
                        <a:rPr lang="ko-KR" altLang="en-US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인한 의사소통 수단 외부 의존</a:t>
                      </a:r>
                      <a:r>
                        <a:rPr lang="en-US" altLang="ko-KR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108063" marR="108063" marT="72042" marB="720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602799"/>
                  </a:ext>
                </a:extLst>
              </a:tr>
              <a:tr h="1440840"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ko-KR" altLang="en-US" sz="12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분석</a:t>
                      </a:r>
                      <a:endParaRPr lang="ko-KR" altLang="en-US" sz="12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08063" marR="108063" marT="72042" marB="720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ko-KR" altLang="en-US" sz="1200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인게임</a:t>
                      </a:r>
                      <a:r>
                        <a:rPr lang="ko-KR" altLang="en-US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커뮤니케이션 부재는 유저 간 </a:t>
                      </a:r>
                      <a:br>
                        <a:rPr lang="en-US" altLang="ko-KR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</a:br>
                      <a:r>
                        <a:rPr lang="ko-KR" altLang="en-US" sz="12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유대 및 결속</a:t>
                      </a:r>
                      <a:r>
                        <a:rPr lang="en-US" altLang="ko-KR" sz="12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(Retention Factor)</a:t>
                      </a:r>
                      <a:r>
                        <a:rPr lang="ko-KR" altLang="en-US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형성을 방해하는 </a:t>
                      </a:r>
                      <a:br>
                        <a:rPr lang="en-US" altLang="ko-KR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</a:br>
                      <a:r>
                        <a:rPr lang="ko-KR" altLang="en-US" sz="12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구조적 문제</a:t>
                      </a:r>
                      <a:r>
                        <a:rPr lang="en-US" altLang="ko-KR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. </a:t>
                      </a:r>
                    </a:p>
                    <a:p>
                      <a:pPr algn="ctr" rtl="0">
                        <a:lnSpc>
                          <a:spcPct val="150000"/>
                        </a:lnSpc>
                      </a:pPr>
                      <a:br>
                        <a:rPr lang="en-US" altLang="ko-KR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</a:br>
                      <a:r>
                        <a:rPr lang="en-US" altLang="ko-KR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→ </a:t>
                      </a:r>
                      <a:r>
                        <a:rPr lang="ko-KR" altLang="en-US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장기적으로 게임 </a:t>
                      </a:r>
                      <a:r>
                        <a:rPr lang="ko-KR" altLang="en-US" sz="12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잔존율</a:t>
                      </a:r>
                      <a:r>
                        <a:rPr lang="ko-KR" altLang="en-US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과 </a:t>
                      </a:r>
                      <a:br>
                        <a:rPr lang="en-US" altLang="ko-KR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</a:br>
                      <a:r>
                        <a:rPr lang="ko-KR" altLang="en-US" sz="12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이탈 방어 기능</a:t>
                      </a:r>
                      <a:r>
                        <a:rPr lang="ko-KR" altLang="en-US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을 저해함</a:t>
                      </a:r>
                      <a:r>
                        <a:rPr lang="en-US" altLang="ko-KR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108063" marR="108063" marT="72042" marB="720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2518838"/>
                  </a:ext>
                </a:extLst>
              </a:tr>
              <a:tr h="662787"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ko-KR" altLang="en-US" sz="12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과제</a:t>
                      </a:r>
                      <a:endParaRPr lang="ko-KR" altLang="en-US" sz="12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08063" marR="108063" marT="72042" marB="720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ko-KR" altLang="en-US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길드 기반 </a:t>
                      </a:r>
                      <a:r>
                        <a:rPr lang="ko-KR" altLang="en-US" sz="12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협동</a:t>
                      </a:r>
                      <a:r>
                        <a:rPr lang="en-US" altLang="ko-KR" sz="12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/</a:t>
                      </a:r>
                      <a:r>
                        <a:rPr lang="ko-KR" altLang="en-US" sz="12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경쟁 콘텐츠</a:t>
                      </a:r>
                      <a:r>
                        <a:rPr lang="ko-KR" altLang="en-US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와 </a:t>
                      </a:r>
                      <a:br>
                        <a:rPr lang="en-US" altLang="ko-KR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</a:br>
                      <a:r>
                        <a:rPr lang="ko-KR" altLang="en-US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연계된 </a:t>
                      </a:r>
                      <a:r>
                        <a:rPr lang="ko-KR" altLang="en-US" sz="1200" b="1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인게임</a:t>
                      </a:r>
                      <a:r>
                        <a:rPr lang="ko-KR" altLang="en-US" sz="12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채팅 기능 강화</a:t>
                      </a:r>
                      <a:r>
                        <a:rPr lang="ko-KR" altLang="en-US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및 </a:t>
                      </a:r>
                      <a:r>
                        <a:rPr lang="en-US" altLang="ko-KR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UX </a:t>
                      </a:r>
                      <a:r>
                        <a:rPr lang="ko-KR" altLang="en-US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개선</a:t>
                      </a:r>
                      <a:r>
                        <a:rPr lang="en-US" altLang="ko-KR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108063" marR="108063" marT="72042" marB="720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0916055"/>
                  </a:ext>
                </a:extLst>
              </a:tr>
              <a:tr h="662787"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ko-KR" altLang="en-US" sz="12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기대 효과</a:t>
                      </a:r>
                      <a:endParaRPr lang="ko-KR" altLang="en-US" sz="12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08063" marR="108063" marT="72042" marB="720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ko-KR" altLang="en-US" sz="1200" b="1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이탈률</a:t>
                      </a:r>
                      <a:r>
                        <a:rPr lang="ko-KR" altLang="en-US" sz="12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감소</a:t>
                      </a:r>
                      <a:r>
                        <a:rPr lang="ko-KR" altLang="en-US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및 커뮤니티 활성화를 통한 </a:t>
                      </a:r>
                      <a:br>
                        <a:rPr lang="en-US" altLang="ko-KR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</a:br>
                      <a:r>
                        <a:rPr lang="ko-KR" altLang="en-US" sz="12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장기 </a:t>
                      </a:r>
                      <a:r>
                        <a:rPr lang="ko-KR" altLang="en-US" sz="1200" b="1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잔존율</a:t>
                      </a:r>
                      <a:r>
                        <a:rPr lang="ko-KR" altLang="en-US" sz="12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강화</a:t>
                      </a:r>
                      <a:r>
                        <a:rPr lang="ko-KR" altLang="en-US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및 </a:t>
                      </a:r>
                      <a:r>
                        <a:rPr lang="ko-KR" altLang="en-US" sz="12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재유입 기회 증가</a:t>
                      </a:r>
                      <a:r>
                        <a:rPr lang="en-US" altLang="ko-KR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108063" marR="108063" marT="72042" marB="720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397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0082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8A218-2903-DAC6-160F-E0D578844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EDFCED9F-E332-1B4E-E676-AF75723131CD}"/>
              </a:ext>
            </a:extLst>
          </p:cNvPr>
          <p:cNvSpPr/>
          <p:nvPr/>
        </p:nvSpPr>
        <p:spPr>
          <a:xfrm>
            <a:off x="0" y="764161"/>
            <a:ext cx="12192000" cy="36933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50" name="Picture 2" descr="소녀전선2 : 망명 12월 5일 09:00 오픈">
            <a:extLst>
              <a:ext uri="{FF2B5EF4-FFF2-40B4-BE49-F238E27FC236}">
                <a16:creationId xmlns:a16="http://schemas.microsoft.com/office/drawing/2014/main" id="{30899F9C-7CA0-54DA-4C18-F608A34065D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8980"/>
          <a:stretch/>
        </p:blipFill>
        <p:spPr bwMode="auto">
          <a:xfrm>
            <a:off x="0" y="0"/>
            <a:ext cx="12192000" cy="755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584F0D3-39B1-0374-818F-A7A695D2B61B}"/>
              </a:ext>
            </a:extLst>
          </p:cNvPr>
          <p:cNvSpPr txBox="1"/>
          <p:nvPr/>
        </p:nvSpPr>
        <p:spPr>
          <a:xfrm>
            <a:off x="931334" y="795865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1.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게임소개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E17C65-D6E9-C8D5-9E21-8E9E50D3B3F7}"/>
              </a:ext>
            </a:extLst>
          </p:cNvPr>
          <p:cNvSpPr txBox="1"/>
          <p:nvPr/>
        </p:nvSpPr>
        <p:spPr>
          <a:xfrm>
            <a:off x="3386666" y="772534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2.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컨텐츠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53B7A9-9393-1E15-E960-9BBB8D77DB8B}"/>
              </a:ext>
            </a:extLst>
          </p:cNvPr>
          <p:cNvSpPr txBox="1"/>
          <p:nvPr/>
        </p:nvSpPr>
        <p:spPr>
          <a:xfrm>
            <a:off x="9313333" y="772534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4. 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사업적 분석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F0EF03-A42A-EA54-E860-65CC6C99C4F5}"/>
              </a:ext>
            </a:extLst>
          </p:cNvPr>
          <p:cNvSpPr txBox="1"/>
          <p:nvPr/>
        </p:nvSpPr>
        <p:spPr>
          <a:xfrm>
            <a:off x="6349999" y="764161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3. </a:t>
            </a:r>
            <a:r>
              <a:rPr lang="ko-KR" altLang="en-US" b="1" dirty="0"/>
              <a:t>플레이 분석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C2C7B4-5A97-3851-C52B-941F8581636A}"/>
              </a:ext>
            </a:extLst>
          </p:cNvPr>
          <p:cNvSpPr txBox="1"/>
          <p:nvPr/>
        </p:nvSpPr>
        <p:spPr>
          <a:xfrm>
            <a:off x="1915582" y="4551875"/>
            <a:ext cx="2010834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/>
              <a:t>파이어 </a:t>
            </a:r>
            <a:r>
              <a:rPr lang="ko-KR" altLang="en-US" sz="1200" dirty="0" err="1"/>
              <a:t>엠블렘</a:t>
            </a:r>
            <a:r>
              <a:rPr lang="ko-KR" altLang="en-US" sz="1200" dirty="0"/>
              <a:t> </a:t>
            </a:r>
            <a:r>
              <a:rPr lang="ko-KR" altLang="en-US" sz="1200" dirty="0" err="1"/>
              <a:t>인게이지</a:t>
            </a:r>
            <a:endParaRPr lang="en-US" altLang="ko-KR" sz="1200" dirty="0"/>
          </a:p>
        </p:txBody>
      </p:sp>
      <p:pic>
        <p:nvPicPr>
          <p:cNvPr id="4098" name="Picture 2" descr="230206] 파이어 엠블렘 인게이지 리뷰 및 감상 : 네이버 블로그">
            <a:extLst>
              <a:ext uri="{FF2B5EF4-FFF2-40B4-BE49-F238E27FC236}">
                <a16:creationId xmlns:a16="http://schemas.microsoft.com/office/drawing/2014/main" id="{B01DA3AB-632F-5686-4779-B9623EEDE2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1133493"/>
            <a:ext cx="5842003" cy="3418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한계측정 1-5 겨우 30렙으로 깼다 - 소녀전선2: 망명 채널">
            <a:extLst>
              <a:ext uri="{FF2B5EF4-FFF2-40B4-BE49-F238E27FC236}">
                <a16:creationId xmlns:a16="http://schemas.microsoft.com/office/drawing/2014/main" id="{43D80744-4219-B7AE-072D-2AE8120B22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1998" y="1133493"/>
            <a:ext cx="6368782" cy="3418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34B6F8D-F4EE-4E65-7F14-137E1EA55A5D}"/>
              </a:ext>
            </a:extLst>
          </p:cNvPr>
          <p:cNvSpPr txBox="1"/>
          <p:nvPr/>
        </p:nvSpPr>
        <p:spPr>
          <a:xfrm>
            <a:off x="8265586" y="4551874"/>
            <a:ext cx="2010834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/>
              <a:t>소녀전선</a:t>
            </a:r>
            <a:r>
              <a:rPr lang="en-US" altLang="ko-KR" sz="1200" dirty="0"/>
              <a:t>2: </a:t>
            </a:r>
            <a:r>
              <a:rPr lang="ko-KR" altLang="en-US" sz="1200" dirty="0"/>
              <a:t>망명</a:t>
            </a:r>
            <a:endParaRPr lang="en-US" altLang="ko-KR" sz="1200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E9B08458-4BB8-6834-9E1F-785B8161D4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5307272"/>
              </p:ext>
            </p:extLst>
          </p:nvPr>
        </p:nvGraphicFramePr>
        <p:xfrm>
          <a:off x="791308" y="4912558"/>
          <a:ext cx="10438979" cy="1773941"/>
        </p:xfrm>
        <a:graphic>
          <a:graphicData uri="http://schemas.openxmlformats.org/drawingml/2006/table">
            <a:tbl>
              <a:tblPr/>
              <a:tblGrid>
                <a:gridCol w="1140511">
                  <a:extLst>
                    <a:ext uri="{9D8B030D-6E8A-4147-A177-3AD203B41FA5}">
                      <a16:colId xmlns:a16="http://schemas.microsoft.com/office/drawing/2014/main" val="3780968292"/>
                    </a:ext>
                  </a:extLst>
                </a:gridCol>
                <a:gridCol w="3414712">
                  <a:extLst>
                    <a:ext uri="{9D8B030D-6E8A-4147-A177-3AD203B41FA5}">
                      <a16:colId xmlns:a16="http://schemas.microsoft.com/office/drawing/2014/main" val="3611812302"/>
                    </a:ext>
                  </a:extLst>
                </a:gridCol>
                <a:gridCol w="2941878">
                  <a:extLst>
                    <a:ext uri="{9D8B030D-6E8A-4147-A177-3AD203B41FA5}">
                      <a16:colId xmlns:a16="http://schemas.microsoft.com/office/drawing/2014/main" val="2587698152"/>
                    </a:ext>
                  </a:extLst>
                </a:gridCol>
                <a:gridCol w="2941878">
                  <a:extLst>
                    <a:ext uri="{9D8B030D-6E8A-4147-A177-3AD203B41FA5}">
                      <a16:colId xmlns:a16="http://schemas.microsoft.com/office/drawing/2014/main" val="1171765187"/>
                    </a:ext>
                  </a:extLst>
                </a:gridCol>
              </a:tblGrid>
              <a:tr h="350095"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endParaRPr lang="ko-KR" altLang="en-US" sz="12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ko-KR" altLang="en-US" sz="12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분석 자료 및 현상 진단</a:t>
                      </a:r>
                      <a:endParaRPr lang="ko-KR" altLang="en-US" sz="12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ko-KR" altLang="en-US" sz="12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문제점</a:t>
                      </a:r>
                      <a:endParaRPr lang="ko-KR" altLang="en-US" sz="12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ko-KR" altLang="en-US" sz="12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개선 과제</a:t>
                      </a:r>
                      <a:endParaRPr lang="ko-KR" altLang="en-US" sz="12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5042440"/>
                  </a:ext>
                </a:extLst>
              </a:tr>
              <a:tr h="1375542"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ko-KR" altLang="en-US" sz="12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문제 근거</a:t>
                      </a:r>
                      <a:endParaRPr lang="ko-KR" altLang="en-US" sz="12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ko-KR" altLang="en-US" sz="12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파이어 </a:t>
                      </a:r>
                      <a:r>
                        <a:rPr lang="ko-KR" altLang="en-US" sz="1200" b="1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엠블렘</a:t>
                      </a:r>
                      <a:r>
                        <a:rPr lang="ko-KR" altLang="en-US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등 </a:t>
                      </a:r>
                      <a:r>
                        <a:rPr lang="ko-KR" altLang="en-US" sz="1200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경쟁작</a:t>
                      </a:r>
                      <a:r>
                        <a:rPr lang="ko-KR" altLang="en-US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대비</a:t>
                      </a:r>
                      <a:r>
                        <a:rPr lang="en-US" altLang="ko-KR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</a:t>
                      </a:r>
                      <a:br>
                        <a:rPr lang="en-US" altLang="ko-KR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</a:br>
                      <a:r>
                        <a:rPr lang="en-US" altLang="ko-KR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SRPG </a:t>
                      </a:r>
                      <a:r>
                        <a:rPr lang="ko-KR" altLang="en-US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특유의 정보를 보여주는 </a:t>
                      </a:r>
                      <a:r>
                        <a:rPr lang="en-US" altLang="ko-KR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UI</a:t>
                      </a:r>
                      <a:r>
                        <a:rPr lang="ko-KR" altLang="en-US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가 </a:t>
                      </a:r>
                      <a:r>
                        <a:rPr lang="ko-KR" altLang="en-US" sz="12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매우 빈약</a:t>
                      </a:r>
                      <a:r>
                        <a:rPr lang="ko-KR" altLang="en-US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함</a:t>
                      </a:r>
                      <a:r>
                        <a:rPr lang="en-US" altLang="ko-KR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ko-KR" altLang="en-US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필수 정보</a:t>
                      </a:r>
                      <a:r>
                        <a:rPr lang="en-US" altLang="ko-KR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ko-KR" altLang="en-US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확률 요소 제외</a:t>
                      </a:r>
                      <a:r>
                        <a:rPr lang="en-US" altLang="ko-KR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) </a:t>
                      </a:r>
                      <a:r>
                        <a:rPr lang="ko-KR" altLang="en-US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및 다음 행동 예측 정보가 부족하여 </a:t>
                      </a:r>
                      <a:br>
                        <a:rPr lang="en-US" altLang="ko-KR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</a:br>
                      <a:r>
                        <a:rPr lang="ko-KR" altLang="en-US" sz="12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신규 유저의 진입 장벽</a:t>
                      </a:r>
                      <a:r>
                        <a:rPr lang="ko-KR" altLang="en-US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을 급격히 높임</a:t>
                      </a:r>
                      <a:r>
                        <a:rPr lang="en-US" altLang="ko-KR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ko-KR" altLang="en-US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유저의 행동에 따른 적의 변화 등을 </a:t>
                      </a:r>
                      <a:br>
                        <a:rPr lang="en-US" altLang="ko-KR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</a:br>
                      <a:r>
                        <a:rPr lang="en-US" altLang="ko-KR" sz="12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UI </a:t>
                      </a:r>
                      <a:r>
                        <a:rPr lang="ko-KR" altLang="en-US" sz="12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친화적</a:t>
                      </a:r>
                      <a:r>
                        <a:rPr lang="ko-KR" altLang="en-US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으로 표시하는 </a:t>
                      </a:r>
                      <a:br>
                        <a:rPr lang="en-US" altLang="ko-KR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</a:br>
                      <a:r>
                        <a:rPr lang="ko-KR" altLang="en-US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정보 통합 시스템 구축</a:t>
                      </a:r>
                      <a:r>
                        <a:rPr lang="en-US" altLang="ko-KR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. 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76957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877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2AA0A-49A6-48A0-E35E-78481AEB8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0F6E5D2A-AF13-D8EA-54F6-A8FB305A1C94}"/>
              </a:ext>
            </a:extLst>
          </p:cNvPr>
          <p:cNvSpPr/>
          <p:nvPr/>
        </p:nvSpPr>
        <p:spPr>
          <a:xfrm>
            <a:off x="0" y="764161"/>
            <a:ext cx="12192000" cy="36933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50" name="Picture 2" descr="소녀전선2 : 망명 12월 5일 09:00 오픈">
            <a:extLst>
              <a:ext uri="{FF2B5EF4-FFF2-40B4-BE49-F238E27FC236}">
                <a16:creationId xmlns:a16="http://schemas.microsoft.com/office/drawing/2014/main" id="{C138BC8D-D551-440D-2D3E-C1D4F2DF12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8980"/>
          <a:stretch/>
        </p:blipFill>
        <p:spPr bwMode="auto">
          <a:xfrm>
            <a:off x="0" y="0"/>
            <a:ext cx="12192000" cy="755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7E6F93B-13CE-C075-BD7D-22C8EBC14AEC}"/>
              </a:ext>
            </a:extLst>
          </p:cNvPr>
          <p:cNvSpPr txBox="1"/>
          <p:nvPr/>
        </p:nvSpPr>
        <p:spPr>
          <a:xfrm>
            <a:off x="931334" y="795865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1.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게임소개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1AC8CF-5A81-8DA0-C52E-723431C0CE7B}"/>
              </a:ext>
            </a:extLst>
          </p:cNvPr>
          <p:cNvSpPr txBox="1"/>
          <p:nvPr/>
        </p:nvSpPr>
        <p:spPr>
          <a:xfrm>
            <a:off x="3386666" y="772534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2.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컨텐츠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845485-DB6B-A147-4DF1-B44DE376D228}"/>
              </a:ext>
            </a:extLst>
          </p:cNvPr>
          <p:cNvSpPr txBox="1"/>
          <p:nvPr/>
        </p:nvSpPr>
        <p:spPr>
          <a:xfrm>
            <a:off x="9313333" y="772534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4. </a:t>
            </a:r>
            <a:r>
              <a:rPr lang="ko-KR" altLang="en-US" b="1" dirty="0"/>
              <a:t>사업적 분석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F93CEC-6C7B-1993-5AA6-89A57CCB4778}"/>
              </a:ext>
            </a:extLst>
          </p:cNvPr>
          <p:cNvSpPr txBox="1"/>
          <p:nvPr/>
        </p:nvSpPr>
        <p:spPr>
          <a:xfrm>
            <a:off x="6349999" y="764161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3.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플레이 분석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D6EEE834-C6DC-F4CB-E754-50CF1FB74E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6730" y="1295587"/>
            <a:ext cx="4028859" cy="2673718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12B54D06-B882-34B6-9CC2-5B1961E42E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8005" y="3976210"/>
            <a:ext cx="4028860" cy="2673718"/>
          </a:xfrm>
          <a:prstGeom prst="rect">
            <a:avLst/>
          </a:prstGeom>
        </p:spPr>
      </p:pic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7A2F0A53-CBBD-E8AC-60D6-E3C988A236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8061577"/>
              </p:ext>
            </p:extLst>
          </p:nvPr>
        </p:nvGraphicFramePr>
        <p:xfrm>
          <a:off x="1515209" y="1366846"/>
          <a:ext cx="4929552" cy="1828800"/>
        </p:xfrm>
        <a:graphic>
          <a:graphicData uri="http://schemas.openxmlformats.org/drawingml/2006/table">
            <a:tbl>
              <a:tblPr/>
              <a:tblGrid>
                <a:gridCol w="1643184">
                  <a:extLst>
                    <a:ext uri="{9D8B030D-6E8A-4147-A177-3AD203B41FA5}">
                      <a16:colId xmlns:a16="http://schemas.microsoft.com/office/drawing/2014/main" val="3560278722"/>
                    </a:ext>
                  </a:extLst>
                </a:gridCol>
                <a:gridCol w="1643184">
                  <a:extLst>
                    <a:ext uri="{9D8B030D-6E8A-4147-A177-3AD203B41FA5}">
                      <a16:colId xmlns:a16="http://schemas.microsoft.com/office/drawing/2014/main" val="2789450062"/>
                    </a:ext>
                  </a:extLst>
                </a:gridCol>
                <a:gridCol w="1643184">
                  <a:extLst>
                    <a:ext uri="{9D8B030D-6E8A-4147-A177-3AD203B41FA5}">
                      <a16:colId xmlns:a16="http://schemas.microsoft.com/office/drawing/2014/main" val="11705674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/>
                      <a:r>
                        <a:rPr lang="ko-KR" altLang="en-US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지역</a:t>
                      </a:r>
                      <a:endParaRPr lang="ko-KR" altLang="en-US" sz="14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ko-KR" altLang="en-US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매출 비중</a:t>
                      </a:r>
                      <a:endParaRPr lang="ko-KR" altLang="en-US" sz="14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ko-KR" altLang="en-US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매출액</a:t>
                      </a:r>
                      <a:endParaRPr lang="ko-KR" altLang="en-US" sz="14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98401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/>
                      <a:r>
                        <a:rPr lang="ko-KR" altLang="en-US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일본</a:t>
                      </a:r>
                      <a:endParaRPr lang="ko-KR" altLang="en-US" sz="14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31.85%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14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132</a:t>
                      </a:r>
                      <a:r>
                        <a:rPr lang="ko-KR" altLang="en-US" sz="14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억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77722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/>
                      <a:r>
                        <a:rPr lang="ko-KR" altLang="en-US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한국</a:t>
                      </a:r>
                      <a:endParaRPr lang="ko-KR" altLang="en-US" sz="14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14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28.64%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119</a:t>
                      </a:r>
                      <a:r>
                        <a:rPr lang="ko-KR" alt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억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98347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/>
                      <a:r>
                        <a:rPr lang="ko-KR" altLang="en-US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북미</a:t>
                      </a:r>
                      <a:endParaRPr lang="ko-KR" altLang="en-US" sz="14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14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19.82%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14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82</a:t>
                      </a:r>
                      <a:r>
                        <a:rPr lang="ko-KR" altLang="en-US" sz="14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억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11259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/>
                      <a:r>
                        <a:rPr lang="ko-KR" altLang="en-US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기타 </a:t>
                      </a:r>
                      <a:r>
                        <a:rPr lang="en-US" altLang="ko-KR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ko-KR" altLang="en-US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중국 포함</a:t>
                      </a:r>
                      <a:r>
                        <a:rPr lang="en-US" altLang="ko-KR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)</a:t>
                      </a:r>
                      <a:endParaRPr lang="ko-KR" altLang="en-US" sz="14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14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19.69%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81</a:t>
                      </a:r>
                      <a:r>
                        <a:rPr lang="ko-KR" altLang="en-US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억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6050517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892E4294-F0B2-E052-F570-DD6C36B61B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0821107"/>
              </p:ext>
            </p:extLst>
          </p:nvPr>
        </p:nvGraphicFramePr>
        <p:xfrm>
          <a:off x="184639" y="3429000"/>
          <a:ext cx="7122092" cy="2836545"/>
        </p:xfrm>
        <a:graphic>
          <a:graphicData uri="http://schemas.openxmlformats.org/drawingml/2006/table">
            <a:tbl>
              <a:tblPr/>
              <a:tblGrid>
                <a:gridCol w="1063869">
                  <a:extLst>
                    <a:ext uri="{9D8B030D-6E8A-4147-A177-3AD203B41FA5}">
                      <a16:colId xmlns:a16="http://schemas.microsoft.com/office/drawing/2014/main" val="748099600"/>
                    </a:ext>
                  </a:extLst>
                </a:gridCol>
                <a:gridCol w="2965072">
                  <a:extLst>
                    <a:ext uri="{9D8B030D-6E8A-4147-A177-3AD203B41FA5}">
                      <a16:colId xmlns:a16="http://schemas.microsoft.com/office/drawing/2014/main" val="1708657027"/>
                    </a:ext>
                  </a:extLst>
                </a:gridCol>
                <a:gridCol w="3093151">
                  <a:extLst>
                    <a:ext uri="{9D8B030D-6E8A-4147-A177-3AD203B41FA5}">
                      <a16:colId xmlns:a16="http://schemas.microsoft.com/office/drawing/2014/main" val="9122042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ko-KR" altLang="en-US" sz="12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구분</a:t>
                      </a:r>
                      <a:endParaRPr lang="ko-KR" altLang="en-US" sz="12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ko-KR" altLang="en-US" sz="12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분석 및 인사이트 도출</a:t>
                      </a:r>
                      <a:endParaRPr lang="ko-KR" altLang="en-US" sz="12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ko-KR" altLang="en-US" sz="12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제언</a:t>
                      </a:r>
                      <a:endParaRPr lang="ko-KR" altLang="en-US" sz="12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6443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ko-KR" altLang="en-US" sz="12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데이터 핵심</a:t>
                      </a:r>
                      <a:endParaRPr lang="ko-KR" altLang="en-US" sz="12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ko-KR" altLang="en-US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일본의 비중이 가장 높으나</a:t>
                      </a:r>
                      <a:r>
                        <a:rPr lang="en-US" altLang="ko-KR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</a:t>
                      </a:r>
                      <a:br>
                        <a:rPr lang="en-US" altLang="ko-KR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</a:br>
                      <a:r>
                        <a:rPr lang="ko-KR" altLang="en-US" sz="12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시장 규모 대비 한국의 비중</a:t>
                      </a:r>
                      <a:r>
                        <a:rPr lang="ko-KR" altLang="en-US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이 </a:t>
                      </a:r>
                      <a:br>
                        <a:rPr lang="en-US" altLang="ko-KR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</a:br>
                      <a:r>
                        <a:rPr lang="ko-KR" altLang="en-US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매우 유의미하게 높게 나타남</a:t>
                      </a:r>
                      <a:r>
                        <a:rPr lang="en-US" altLang="ko-KR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. </a:t>
                      </a:r>
                      <a:br>
                        <a:rPr lang="en-US" altLang="ko-KR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</a:br>
                      <a:r>
                        <a:rPr lang="en-US" altLang="ko-KR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ko-KR" altLang="en-US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전작 소녀전선</a:t>
                      </a:r>
                      <a:r>
                        <a:rPr lang="en-US" altLang="ko-KR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</a:t>
                      </a:r>
                      <a:r>
                        <a:rPr lang="ko-KR" altLang="en-US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과 유사한 양상</a:t>
                      </a:r>
                      <a:r>
                        <a:rPr lang="en-US" altLang="ko-KR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ko-KR" altLang="en-US" sz="12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한국</a:t>
                      </a:r>
                      <a:r>
                        <a:rPr lang="en-US" altLang="ko-KR" sz="12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/</a:t>
                      </a:r>
                      <a:r>
                        <a:rPr lang="ko-KR" altLang="en-US" sz="12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일본 시장 집중 전략</a:t>
                      </a:r>
                      <a:br>
                        <a:rPr lang="en-US" altLang="ko-KR" sz="12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</a:br>
                      <a:r>
                        <a:rPr lang="ko-KR" altLang="en-US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핵심 매출 기반인 한국 및 일본 시장을 </a:t>
                      </a:r>
                      <a:br>
                        <a:rPr lang="en-US" altLang="ko-KR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</a:br>
                      <a:r>
                        <a:rPr lang="ko-KR" altLang="en-US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타겟으로 하는 </a:t>
                      </a:r>
                      <a:r>
                        <a:rPr lang="ko-KR" altLang="en-US" sz="1200" b="1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현지화된</a:t>
                      </a:r>
                      <a:r>
                        <a:rPr lang="ko-KR" altLang="en-US" sz="12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마케팅</a:t>
                      </a:r>
                      <a:r>
                        <a:rPr lang="ko-KR" altLang="en-US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과 </a:t>
                      </a:r>
                      <a:br>
                        <a:rPr lang="en-US" altLang="ko-KR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</a:br>
                      <a:r>
                        <a:rPr lang="ko-KR" altLang="en-US" sz="1200" b="1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인게임</a:t>
                      </a:r>
                      <a:r>
                        <a:rPr lang="ko-KR" altLang="en-US" sz="12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이벤트</a:t>
                      </a:r>
                      <a:r>
                        <a:rPr lang="ko-KR" altLang="en-US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기획이 필요함</a:t>
                      </a:r>
                      <a:r>
                        <a:rPr lang="en-US" altLang="ko-KR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50419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ko-KR" altLang="en-US" sz="12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직무 활용</a:t>
                      </a:r>
                      <a:endParaRPr lang="ko-KR" altLang="en-US" sz="12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en-US" altLang="ko-KR" sz="12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IP </a:t>
                      </a:r>
                      <a:r>
                        <a:rPr lang="ko-KR" altLang="en-US" sz="12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파워</a:t>
                      </a:r>
                      <a:r>
                        <a:rPr lang="ko-KR" altLang="en-US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와 </a:t>
                      </a:r>
                      <a:r>
                        <a:rPr lang="ko-KR" altLang="en-US" sz="12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코어 유저 충성도</a:t>
                      </a:r>
                      <a:r>
                        <a:rPr lang="ko-KR" altLang="en-US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가 특정 지역</a:t>
                      </a:r>
                      <a:r>
                        <a:rPr lang="en-US" altLang="ko-KR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ko-KR" altLang="en-US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한국</a:t>
                      </a:r>
                      <a:r>
                        <a:rPr lang="en-US" altLang="ko-KR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)</a:t>
                      </a:r>
                      <a:r>
                        <a:rPr lang="ko-KR" altLang="en-US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에서 강력하게 작용하고 있음을 </a:t>
                      </a:r>
                      <a:br>
                        <a:rPr lang="en-US" altLang="ko-KR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</a:br>
                      <a:r>
                        <a:rPr lang="ko-KR" altLang="en-US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정량적으로 확인</a:t>
                      </a:r>
                      <a:r>
                        <a:rPr lang="en-US" altLang="ko-KR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ko-KR" altLang="en-US" sz="12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코어 유저 피드백 수용 강화</a:t>
                      </a:r>
                      <a:br>
                        <a:rPr lang="en-US" altLang="ko-KR" sz="12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</a:br>
                      <a:r>
                        <a:rPr lang="ko-KR" altLang="en-US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한국</a:t>
                      </a:r>
                      <a:r>
                        <a:rPr lang="en-US" altLang="ko-KR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/</a:t>
                      </a:r>
                      <a:r>
                        <a:rPr lang="ko-KR" altLang="en-US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일본 코어 유저층의 동향을 파악하고</a:t>
                      </a:r>
                      <a:r>
                        <a:rPr lang="en-US" altLang="ko-KR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이들의 게임 불편사항 및 개선 제안을 </a:t>
                      </a:r>
                      <a:br>
                        <a:rPr lang="en-US" altLang="ko-KR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</a:br>
                      <a:r>
                        <a:rPr lang="ko-KR" altLang="en-US" sz="12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개발 우선순위</a:t>
                      </a:r>
                      <a:r>
                        <a:rPr lang="ko-KR" altLang="en-US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에 반영할 필요성이 높음</a:t>
                      </a:r>
                      <a:r>
                        <a:rPr lang="en-US" altLang="ko-KR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61324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1195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50EE1-A378-8CE8-3180-8B787B4FC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B97A09E2-B50B-65DD-46E0-36D5115F0F8D}"/>
              </a:ext>
            </a:extLst>
          </p:cNvPr>
          <p:cNvSpPr/>
          <p:nvPr/>
        </p:nvSpPr>
        <p:spPr>
          <a:xfrm>
            <a:off x="0" y="764161"/>
            <a:ext cx="12192000" cy="36933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50" name="Picture 2" descr="소녀전선2 : 망명 12월 5일 09:00 오픈">
            <a:extLst>
              <a:ext uri="{FF2B5EF4-FFF2-40B4-BE49-F238E27FC236}">
                <a16:creationId xmlns:a16="http://schemas.microsoft.com/office/drawing/2014/main" id="{A65067E0-2DE3-9206-A85C-83F2A4DACB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8980"/>
          <a:stretch/>
        </p:blipFill>
        <p:spPr bwMode="auto">
          <a:xfrm>
            <a:off x="0" y="0"/>
            <a:ext cx="12192000" cy="755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0DD6DBD-0848-4712-0D6E-35622ECCB435}"/>
              </a:ext>
            </a:extLst>
          </p:cNvPr>
          <p:cNvSpPr txBox="1"/>
          <p:nvPr/>
        </p:nvSpPr>
        <p:spPr>
          <a:xfrm>
            <a:off x="931334" y="795865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1.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게임소개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4A3CD7-B05C-8867-68A7-BE6A9CD4341B}"/>
              </a:ext>
            </a:extLst>
          </p:cNvPr>
          <p:cNvSpPr txBox="1"/>
          <p:nvPr/>
        </p:nvSpPr>
        <p:spPr>
          <a:xfrm>
            <a:off x="3386666" y="772534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2.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컨텐츠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24044C-991E-7A5E-F009-D83BACF05413}"/>
              </a:ext>
            </a:extLst>
          </p:cNvPr>
          <p:cNvSpPr txBox="1"/>
          <p:nvPr/>
        </p:nvSpPr>
        <p:spPr>
          <a:xfrm>
            <a:off x="9313333" y="772534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4. </a:t>
            </a:r>
            <a:r>
              <a:rPr lang="ko-KR" altLang="en-US" b="1" dirty="0"/>
              <a:t>사업적 분석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E3F3B9-5E0D-EF99-11DA-53D17AE672A9}"/>
              </a:ext>
            </a:extLst>
          </p:cNvPr>
          <p:cNvSpPr txBox="1"/>
          <p:nvPr/>
        </p:nvSpPr>
        <p:spPr>
          <a:xfrm>
            <a:off x="6349999" y="764161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3.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플레이 분석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24D7AA5-4860-DE3D-B65F-F8234C546F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6346" y="1696225"/>
            <a:ext cx="5820587" cy="4058216"/>
          </a:xfrm>
          <a:prstGeom prst="rect">
            <a:avLst/>
          </a:prstGeom>
        </p:spPr>
      </p:pic>
      <p:pic>
        <p:nvPicPr>
          <p:cNvPr id="10" name="Picture 2" descr="7eee9e36ebd518986abce8954483736d6f5a63">
            <a:extLst>
              <a:ext uri="{FF2B5EF4-FFF2-40B4-BE49-F238E27FC236}">
                <a16:creationId xmlns:a16="http://schemas.microsoft.com/office/drawing/2014/main" id="{289E5D80-73DA-7A7E-5E33-9D8F3806ED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40"/>
          <a:stretch/>
        </p:blipFill>
        <p:spPr bwMode="auto">
          <a:xfrm>
            <a:off x="3064933" y="3936999"/>
            <a:ext cx="2628901" cy="292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7ee89e36ebd518986abce8954587706eec13">
            <a:extLst>
              <a:ext uri="{FF2B5EF4-FFF2-40B4-BE49-F238E27FC236}">
                <a16:creationId xmlns:a16="http://schemas.microsoft.com/office/drawing/2014/main" id="{4D3B37B1-A1D4-F397-44EB-4A5EB0CFE6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340"/>
          <a:stretch/>
        </p:blipFill>
        <p:spPr bwMode="auto">
          <a:xfrm>
            <a:off x="0" y="3937000"/>
            <a:ext cx="3064934" cy="292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A784245-168F-E6AB-1FCB-3FDB7DCB1117}"/>
              </a:ext>
            </a:extLst>
          </p:cNvPr>
          <p:cNvSpPr txBox="1"/>
          <p:nvPr/>
        </p:nvSpPr>
        <p:spPr>
          <a:xfrm>
            <a:off x="6096000" y="1273241"/>
            <a:ext cx="5257801" cy="414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600" dirty="0"/>
              <a:t>2024.12 MAU: </a:t>
            </a:r>
            <a:r>
              <a:rPr lang="ko-KR" altLang="en-US" sz="1600" dirty="0"/>
              <a:t>약 </a:t>
            </a:r>
            <a:r>
              <a:rPr lang="en-US" altLang="ko-KR" sz="1600" dirty="0"/>
              <a:t>59</a:t>
            </a:r>
            <a:r>
              <a:rPr lang="ko-KR" altLang="en-US" sz="1600" dirty="0"/>
              <a:t>만</a:t>
            </a:r>
            <a:endParaRPr lang="en-US" altLang="ko-KR" sz="1600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4A7921C-3ABB-061E-278C-3679A46886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4792734"/>
              </p:ext>
            </p:extLst>
          </p:nvPr>
        </p:nvGraphicFramePr>
        <p:xfrm>
          <a:off x="0" y="1242467"/>
          <a:ext cx="5693832" cy="2702906"/>
        </p:xfrm>
        <a:graphic>
          <a:graphicData uri="http://schemas.openxmlformats.org/drawingml/2006/table">
            <a:tbl>
              <a:tblPr/>
              <a:tblGrid>
                <a:gridCol w="1897944">
                  <a:extLst>
                    <a:ext uri="{9D8B030D-6E8A-4147-A177-3AD203B41FA5}">
                      <a16:colId xmlns:a16="http://schemas.microsoft.com/office/drawing/2014/main" val="1335767970"/>
                    </a:ext>
                  </a:extLst>
                </a:gridCol>
                <a:gridCol w="1897944">
                  <a:extLst>
                    <a:ext uri="{9D8B030D-6E8A-4147-A177-3AD203B41FA5}">
                      <a16:colId xmlns:a16="http://schemas.microsoft.com/office/drawing/2014/main" val="1115869192"/>
                    </a:ext>
                  </a:extLst>
                </a:gridCol>
                <a:gridCol w="1897944">
                  <a:extLst>
                    <a:ext uri="{9D8B030D-6E8A-4147-A177-3AD203B41FA5}">
                      <a16:colId xmlns:a16="http://schemas.microsoft.com/office/drawing/2014/main" val="2308174749"/>
                    </a:ext>
                  </a:extLst>
                </a:gridCol>
              </a:tblGrid>
              <a:tr h="384421"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ko-KR" altLang="en-US" sz="11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구분</a:t>
                      </a:r>
                      <a:endParaRPr lang="ko-KR" altLang="en-US" sz="11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ko-KR" altLang="en-US" sz="11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비율</a:t>
                      </a:r>
                      <a:r>
                        <a:rPr lang="en-US" altLang="ko-KR" sz="11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/</a:t>
                      </a:r>
                      <a:r>
                        <a:rPr lang="ko-KR" altLang="en-US" sz="11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수치</a:t>
                      </a:r>
                      <a:endParaRPr lang="ko-KR" altLang="en-US" sz="11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ko-KR" altLang="en-US" sz="11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분석 및 현상</a:t>
                      </a:r>
                      <a:endParaRPr lang="ko-KR" altLang="en-US" sz="11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8366364"/>
                  </a:ext>
                </a:extLst>
              </a:tr>
              <a:tr h="589794"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ko-KR" altLang="en-US" sz="11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남성 이용자</a:t>
                      </a:r>
                      <a:endParaRPr lang="ko-KR" altLang="en-US" sz="11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en-US" altLang="ko-KR" sz="11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92%</a:t>
                      </a:r>
                      <a:endParaRPr lang="ko-KR" altLang="en-US" sz="11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ko-KR" altLang="en-US" sz="11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압도적인 남성 </a:t>
                      </a:r>
                      <a:r>
                        <a:rPr lang="ko-KR" altLang="en-US" sz="1100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유저층</a:t>
                      </a:r>
                      <a:r>
                        <a:rPr lang="ko-KR" altLang="en-US" sz="11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형성</a:t>
                      </a:r>
                      <a:r>
                        <a:rPr lang="en-US" altLang="ko-KR" sz="11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3936622"/>
                  </a:ext>
                </a:extLst>
              </a:tr>
              <a:tr h="830844"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en-US" altLang="ko-KR" sz="11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20</a:t>
                      </a:r>
                      <a:r>
                        <a:rPr lang="ko-KR" altLang="en-US" sz="11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대 이상 비율</a:t>
                      </a:r>
                      <a:endParaRPr lang="ko-KR" altLang="en-US" sz="11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en-US" altLang="ko-KR" sz="11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50% </a:t>
                      </a:r>
                      <a:r>
                        <a:rPr lang="ko-KR" altLang="en-US" sz="11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이상</a:t>
                      </a:r>
                      <a:endParaRPr lang="ko-KR" altLang="en-US" sz="11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ko-KR" altLang="en-US" sz="11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타 </a:t>
                      </a:r>
                      <a:r>
                        <a:rPr lang="ko-KR" altLang="en-US" sz="1100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서브컬처</a:t>
                      </a:r>
                      <a:r>
                        <a:rPr lang="ko-KR" altLang="en-US" sz="11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게임 대비 </a:t>
                      </a:r>
                      <a:br>
                        <a:rPr lang="en-US" altLang="ko-KR" sz="11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</a:br>
                      <a:r>
                        <a:rPr lang="ko-KR" altLang="en-US" sz="11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연령대가 높은</a:t>
                      </a:r>
                      <a:r>
                        <a:rPr lang="ko-KR" altLang="en-US" sz="11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코어 </a:t>
                      </a:r>
                      <a:r>
                        <a:rPr lang="ko-KR" altLang="en-US" sz="1100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유저층</a:t>
                      </a:r>
                      <a:r>
                        <a:rPr lang="ko-KR" altLang="en-US" sz="11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</a:t>
                      </a:r>
                      <a:endParaRPr lang="en-US" altLang="ko-KR" sz="11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4704714"/>
                  </a:ext>
                </a:extLst>
              </a:tr>
              <a:tr h="897847"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en-US" sz="11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ARPU</a:t>
                      </a:r>
                      <a:endParaRPr lang="en-US" sz="11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en-US" altLang="ko-KR" sz="11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20,169</a:t>
                      </a:r>
                      <a:r>
                        <a:rPr lang="ko-KR" altLang="en-US" sz="11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원</a:t>
                      </a:r>
                      <a:endParaRPr lang="ko-KR" altLang="en-US" sz="11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ko-KR" altLang="en-US" sz="11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소위 가성비 과금</a:t>
                      </a:r>
                      <a:br>
                        <a:rPr lang="en-US" altLang="ko-KR" sz="11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</a:br>
                      <a:r>
                        <a:rPr lang="en-US" altLang="ko-KR" sz="11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ko-KR" altLang="en-US" sz="1100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월정액</a:t>
                      </a:r>
                      <a:r>
                        <a:rPr lang="en-US" altLang="ko-KR" sz="11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+</a:t>
                      </a:r>
                      <a:r>
                        <a:rPr lang="ko-KR" altLang="en-US" sz="11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시즌패스</a:t>
                      </a:r>
                      <a:r>
                        <a:rPr lang="en-US" altLang="ko-KR" sz="11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) </a:t>
                      </a:r>
                      <a:br>
                        <a:rPr lang="en-US" altLang="ko-KR" sz="11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</a:br>
                      <a:r>
                        <a:rPr lang="ko-KR" altLang="en-US" sz="11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가격보다 높은 통계</a:t>
                      </a:r>
                      <a:r>
                        <a:rPr lang="en-US" altLang="ko-KR" sz="11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26110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4667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E39AD-D721-9F82-A8D4-D8229B7AB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D6563E04-F851-21C9-3C20-1932E845A4AA}"/>
              </a:ext>
            </a:extLst>
          </p:cNvPr>
          <p:cNvSpPr/>
          <p:nvPr/>
        </p:nvSpPr>
        <p:spPr>
          <a:xfrm>
            <a:off x="0" y="764161"/>
            <a:ext cx="12192000" cy="36933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50" name="Picture 2" descr="소녀전선2 : 망명 12월 5일 09:00 오픈">
            <a:extLst>
              <a:ext uri="{FF2B5EF4-FFF2-40B4-BE49-F238E27FC236}">
                <a16:creationId xmlns:a16="http://schemas.microsoft.com/office/drawing/2014/main" id="{88ED4F7A-E70D-7BD4-5C2E-41B71228F1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8980"/>
          <a:stretch/>
        </p:blipFill>
        <p:spPr bwMode="auto">
          <a:xfrm>
            <a:off x="0" y="0"/>
            <a:ext cx="12192000" cy="755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4523089-5D30-CFF1-5FFC-EE6B24BBAAA7}"/>
              </a:ext>
            </a:extLst>
          </p:cNvPr>
          <p:cNvSpPr txBox="1"/>
          <p:nvPr/>
        </p:nvSpPr>
        <p:spPr>
          <a:xfrm>
            <a:off x="931334" y="795865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1.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게임소개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23D11D-981C-EA9E-169E-B9FD8A18325B}"/>
              </a:ext>
            </a:extLst>
          </p:cNvPr>
          <p:cNvSpPr txBox="1"/>
          <p:nvPr/>
        </p:nvSpPr>
        <p:spPr>
          <a:xfrm>
            <a:off x="3386666" y="772534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2.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컨텐츠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33DCF8-29DC-48F0-889A-1EEC0A0C2BFB}"/>
              </a:ext>
            </a:extLst>
          </p:cNvPr>
          <p:cNvSpPr txBox="1"/>
          <p:nvPr/>
        </p:nvSpPr>
        <p:spPr>
          <a:xfrm>
            <a:off x="9313333" y="772534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4. </a:t>
            </a:r>
            <a:r>
              <a:rPr lang="ko-KR" altLang="en-US" b="1" dirty="0"/>
              <a:t>사업적 분석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EC3B44-2B83-C75B-C4BB-4E5C589BD631}"/>
              </a:ext>
            </a:extLst>
          </p:cNvPr>
          <p:cNvSpPr txBox="1"/>
          <p:nvPr/>
        </p:nvSpPr>
        <p:spPr>
          <a:xfrm>
            <a:off x="6349999" y="764161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3. </a:t>
            </a:r>
            <a:r>
              <a:rPr lang="ko-KR" altLang="en-US">
                <a:solidFill>
                  <a:schemeClr val="bg1">
                    <a:lumMod val="50000"/>
                  </a:schemeClr>
                </a:solidFill>
              </a:rPr>
              <a:t>플레이 분석</a:t>
            </a:r>
            <a:endParaRPr lang="ko-KR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3074" name="Picture 2" descr="a04424ad2c06782ab47e5a67ee91766dc28ef1ecd2acc4cebf11dac35ad3d6210b04eb1cfefd394df1738c89593c96">
            <a:extLst>
              <a:ext uri="{FF2B5EF4-FFF2-40B4-BE49-F238E27FC236}">
                <a16:creationId xmlns:a16="http://schemas.microsoft.com/office/drawing/2014/main" id="{6FBC0B59-4958-FCE9-2009-279C1D555B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5565" y="1133493"/>
            <a:ext cx="6176435" cy="5724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843DC29-2B6F-D5C0-FA74-5CF3F78C5A14}"/>
              </a:ext>
            </a:extLst>
          </p:cNvPr>
          <p:cNvCxnSpPr/>
          <p:nvPr/>
        </p:nvCxnSpPr>
        <p:spPr>
          <a:xfrm>
            <a:off x="6163733" y="3454401"/>
            <a:ext cx="6028267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2B997F6C-4823-3DBF-DC9B-F7603DBB1FC4}"/>
              </a:ext>
            </a:extLst>
          </p:cNvPr>
          <p:cNvCxnSpPr/>
          <p:nvPr/>
        </p:nvCxnSpPr>
        <p:spPr>
          <a:xfrm>
            <a:off x="6163733" y="4631268"/>
            <a:ext cx="6028267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050040F8-1775-B91C-594B-9490E0EFD6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8333352"/>
              </p:ext>
            </p:extLst>
          </p:nvPr>
        </p:nvGraphicFramePr>
        <p:xfrm>
          <a:off x="0" y="1141865"/>
          <a:ext cx="6015564" cy="5724507"/>
        </p:xfrm>
        <a:graphic>
          <a:graphicData uri="http://schemas.openxmlformats.org/drawingml/2006/table">
            <a:tbl>
              <a:tblPr/>
              <a:tblGrid>
                <a:gridCol w="830238">
                  <a:extLst>
                    <a:ext uri="{9D8B030D-6E8A-4147-A177-3AD203B41FA5}">
                      <a16:colId xmlns:a16="http://schemas.microsoft.com/office/drawing/2014/main" val="780393735"/>
                    </a:ext>
                  </a:extLst>
                </a:gridCol>
                <a:gridCol w="1728442">
                  <a:extLst>
                    <a:ext uri="{9D8B030D-6E8A-4147-A177-3AD203B41FA5}">
                      <a16:colId xmlns:a16="http://schemas.microsoft.com/office/drawing/2014/main" val="3923869556"/>
                    </a:ext>
                  </a:extLst>
                </a:gridCol>
                <a:gridCol w="1728442">
                  <a:extLst>
                    <a:ext uri="{9D8B030D-6E8A-4147-A177-3AD203B41FA5}">
                      <a16:colId xmlns:a16="http://schemas.microsoft.com/office/drawing/2014/main" val="3268618294"/>
                    </a:ext>
                  </a:extLst>
                </a:gridCol>
                <a:gridCol w="1728442">
                  <a:extLst>
                    <a:ext uri="{9D8B030D-6E8A-4147-A177-3AD203B41FA5}">
                      <a16:colId xmlns:a16="http://schemas.microsoft.com/office/drawing/2014/main" val="1469117444"/>
                    </a:ext>
                  </a:extLst>
                </a:gridCol>
              </a:tblGrid>
              <a:tr h="555282"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ko-KR" altLang="en-US" sz="12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구분</a:t>
                      </a:r>
                      <a:endParaRPr lang="ko-KR" altLang="en-US" sz="12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08783" marR="108783" marT="72522" marB="725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ko-KR" altLang="en-US" sz="12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분석 자료</a:t>
                      </a:r>
                      <a:endParaRPr lang="ko-KR" altLang="en-US" sz="12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08783" marR="108783" marT="72522" marB="725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en-US" sz="12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BM </a:t>
                      </a:r>
                      <a:r>
                        <a:rPr lang="ko-KR" altLang="en-US" sz="12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특성</a:t>
                      </a:r>
                      <a:endParaRPr lang="ko-KR" altLang="en-US" sz="12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08783" marR="108783" marT="72522" marB="725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ko-KR" altLang="en-US" sz="12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인사이트 및 전략</a:t>
                      </a:r>
                      <a:endParaRPr lang="ko-KR" altLang="en-US" sz="12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08783" marR="108783" marT="72522" marB="725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6927906"/>
                  </a:ext>
                </a:extLst>
              </a:tr>
              <a:tr h="2401451"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ko-KR" altLang="en-US" sz="12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깡트럭 효율</a:t>
                      </a:r>
                      <a:endParaRPr lang="ko-KR" altLang="en-US" sz="12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08783" marR="108783" marT="72522" marB="725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ko-KR" altLang="en-US" sz="1200" b="1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주황선</a:t>
                      </a:r>
                      <a:r>
                        <a:rPr lang="en-US" altLang="ko-KR" sz="12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ko-KR" altLang="en-US" sz="1200" b="1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초회</a:t>
                      </a:r>
                      <a:r>
                        <a:rPr lang="ko-KR" altLang="en-US" sz="12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포함</a:t>
                      </a:r>
                      <a:r>
                        <a:rPr lang="en-US" altLang="ko-KR" sz="12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)</a:t>
                      </a:r>
                      <a:r>
                        <a:rPr lang="ko-KR" altLang="en-US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ko-KR" altLang="en-US" sz="1200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깡트럭</a:t>
                      </a:r>
                      <a:r>
                        <a:rPr lang="ko-KR" altLang="en-US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효율 구간이 늦게 나타나며</a:t>
                      </a:r>
                      <a:r>
                        <a:rPr lang="en-US" altLang="ko-KR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ko-KR" altLang="en-US" sz="1200" b="1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빨간선</a:t>
                      </a:r>
                      <a:r>
                        <a:rPr lang="en-US" altLang="ko-KR" sz="12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ko-KR" altLang="en-US" sz="1200" b="1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초회</a:t>
                      </a:r>
                      <a:r>
                        <a:rPr lang="ko-KR" altLang="en-US" sz="12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제외</a:t>
                      </a:r>
                      <a:r>
                        <a:rPr lang="en-US" altLang="ko-KR" sz="12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)</a:t>
                      </a:r>
                      <a:r>
                        <a:rPr lang="ko-KR" altLang="en-US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깡트럭은 더 낮은 효율을 보임</a:t>
                      </a:r>
                      <a:r>
                        <a:rPr lang="en-US" altLang="ko-KR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108783" marR="108783" marT="72522" marB="725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ko-KR" altLang="en-US" sz="12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가성비 유도 전략</a:t>
                      </a:r>
                      <a:br>
                        <a:rPr lang="en-US" altLang="ko-KR" sz="12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</a:br>
                      <a:r>
                        <a:rPr lang="ko-KR" altLang="en-US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코어 </a:t>
                      </a:r>
                      <a:r>
                        <a:rPr lang="en-US" altLang="ko-KR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BM</a:t>
                      </a:r>
                      <a:r>
                        <a:rPr lang="ko-KR" altLang="en-US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은 </a:t>
                      </a:r>
                      <a:br>
                        <a:rPr lang="en-US" altLang="ko-KR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</a:br>
                      <a:r>
                        <a:rPr lang="ko-KR" altLang="en-US" sz="1200" b="1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월정액</a:t>
                      </a:r>
                      <a:r>
                        <a:rPr lang="en-US" altLang="ko-KR" sz="12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/</a:t>
                      </a:r>
                      <a:r>
                        <a:rPr lang="ko-KR" altLang="en-US" sz="12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시즌패스</a:t>
                      </a:r>
                      <a:r>
                        <a:rPr lang="ko-KR" altLang="en-US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등 </a:t>
                      </a:r>
                      <a:br>
                        <a:rPr lang="en-US" altLang="ko-KR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</a:br>
                      <a:r>
                        <a:rPr lang="ko-KR" altLang="en-US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낮은 가격의 패키지를 통해 유저의 </a:t>
                      </a:r>
                      <a:r>
                        <a:rPr lang="ko-KR" altLang="en-US" sz="12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초기 진입 장벽</a:t>
                      </a:r>
                      <a:r>
                        <a:rPr lang="ko-KR" altLang="en-US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을 낮추고 장기간 결제를 유도함</a:t>
                      </a:r>
                      <a:r>
                        <a:rPr lang="en-US" altLang="ko-KR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108783" marR="108783" marT="72522" marB="725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ko-KR" altLang="en-US" sz="12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매출 안정성 확보</a:t>
                      </a:r>
                      <a:br>
                        <a:rPr lang="en-US" altLang="ko-KR" sz="12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</a:br>
                      <a:r>
                        <a:rPr lang="ko-KR" altLang="en-US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고액 결제</a:t>
                      </a:r>
                      <a:r>
                        <a:rPr lang="en-US" altLang="ko-KR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ko-KR" altLang="en-US" sz="1200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깡트럭</a:t>
                      </a:r>
                      <a:r>
                        <a:rPr lang="en-US" altLang="ko-KR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) </a:t>
                      </a:r>
                      <a:br>
                        <a:rPr lang="en-US" altLang="ko-KR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</a:br>
                      <a:r>
                        <a:rPr lang="ko-KR" altLang="en-US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의존도를 낮추고 소액 결제를 통한 </a:t>
                      </a:r>
                      <a:r>
                        <a:rPr lang="ko-KR" altLang="en-US" sz="12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넓은 </a:t>
                      </a:r>
                      <a:r>
                        <a:rPr lang="ko-KR" altLang="en-US" sz="1200" b="1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유저층</a:t>
                      </a:r>
                      <a:r>
                        <a:rPr lang="ko-KR" altLang="en-US" sz="12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기반의 매출 안정성</a:t>
                      </a:r>
                      <a:endParaRPr lang="en-US" altLang="ko-KR" sz="12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08783" marR="108783" marT="72522" marB="725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6507238"/>
                  </a:ext>
                </a:extLst>
              </a:tr>
              <a:tr h="2767774"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ko-KR" altLang="en-US" sz="12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패키지 다양성</a:t>
                      </a:r>
                      <a:endParaRPr lang="ko-KR" altLang="en-US" sz="12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08783" marR="108783" marT="72522" marB="725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ko-KR" altLang="en-US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트럭 외 결제 수단이 거의 전무한 </a:t>
                      </a:r>
                      <a:br>
                        <a:rPr lang="en-US" altLang="ko-KR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</a:br>
                      <a:r>
                        <a:rPr lang="ko-KR" altLang="en-US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타 </a:t>
                      </a:r>
                      <a:r>
                        <a:rPr lang="ko-KR" altLang="en-US" sz="1200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원신류</a:t>
                      </a:r>
                      <a:r>
                        <a:rPr lang="ko-KR" altLang="en-US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altLang="ko-KR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BM</a:t>
                      </a:r>
                      <a:r>
                        <a:rPr lang="ko-KR" altLang="en-US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과 달리</a:t>
                      </a:r>
                      <a:r>
                        <a:rPr lang="en-US" altLang="ko-KR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</a:t>
                      </a:r>
                      <a:br>
                        <a:rPr lang="en-US" altLang="ko-KR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</a:br>
                      <a:r>
                        <a:rPr lang="ko-KR" altLang="en-US" sz="12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상당히 많은 패키지</a:t>
                      </a:r>
                      <a:r>
                        <a:rPr lang="ko-KR" altLang="en-US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들을 판매하고 있음</a:t>
                      </a:r>
                      <a:r>
                        <a:rPr lang="en-US" altLang="ko-KR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108783" marR="108783" marT="72522" marB="725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ko-KR" altLang="en-US" sz="12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다층적 </a:t>
                      </a:r>
                      <a:r>
                        <a:rPr lang="en-US" altLang="ko-KR" sz="12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BM </a:t>
                      </a:r>
                      <a:r>
                        <a:rPr lang="ko-KR" altLang="en-US" sz="12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구조</a:t>
                      </a:r>
                      <a:br>
                        <a:rPr lang="en-US" altLang="ko-KR" sz="12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</a:br>
                      <a:r>
                        <a:rPr lang="en-US" altLang="ko-KR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'</a:t>
                      </a:r>
                      <a:r>
                        <a:rPr lang="ko-KR" altLang="en-US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가성비</a:t>
                      </a:r>
                      <a:r>
                        <a:rPr lang="en-US" altLang="ko-KR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' </a:t>
                      </a:r>
                      <a:r>
                        <a:rPr lang="ko-KR" altLang="en-US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외에 </a:t>
                      </a:r>
                      <a:r>
                        <a:rPr lang="ko-KR" altLang="en-US" sz="12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다양한 성장 재화 수요</a:t>
                      </a:r>
                      <a:r>
                        <a:rPr lang="ko-KR" altLang="en-US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를 충족시키기 위해 패키지를 박리다매식으로 구성하여 </a:t>
                      </a:r>
                      <a:r>
                        <a:rPr lang="ko-KR" altLang="en-US" sz="1200" b="1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객단가</a:t>
                      </a:r>
                      <a:r>
                        <a:rPr lang="en-US" altLang="ko-KR" sz="12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(ARPU)</a:t>
                      </a:r>
                      <a:r>
                        <a:rPr lang="ko-KR" altLang="en-US" sz="12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를 상승</a:t>
                      </a:r>
                      <a:r>
                        <a:rPr lang="ko-KR" altLang="en-US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시키는 전략</a:t>
                      </a:r>
                      <a:r>
                        <a:rPr lang="en-US" altLang="ko-KR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108783" marR="108783" marT="72522" marB="725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ko-KR" altLang="en-US" sz="12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유연한 매출 대응</a:t>
                      </a:r>
                      <a:br>
                        <a:rPr lang="en-US" altLang="ko-KR" sz="12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</a:br>
                      <a:r>
                        <a:rPr lang="ko-KR" altLang="en-US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다양한 패키지를 통해 유저의 </a:t>
                      </a:r>
                      <a:r>
                        <a:rPr lang="ko-KR" altLang="en-US" sz="12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성장 니즈</a:t>
                      </a:r>
                      <a:r>
                        <a:rPr lang="ko-KR" altLang="en-US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에 즉각적으로 대응하며</a:t>
                      </a:r>
                      <a:r>
                        <a:rPr lang="en-US" altLang="ko-KR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매출 하락 시 탄력적으로 패키지 이벤트를 운영할 수 있는 기반 마련</a:t>
                      </a:r>
                      <a:r>
                        <a:rPr lang="en-US" altLang="ko-KR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108783" marR="108783" marT="72522" marB="725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21559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03634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C46FC-1135-92F6-20DA-4E872DA38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1ABEA2C3-02B1-2593-97CD-119A8DED96D1}"/>
              </a:ext>
            </a:extLst>
          </p:cNvPr>
          <p:cNvSpPr/>
          <p:nvPr/>
        </p:nvSpPr>
        <p:spPr>
          <a:xfrm>
            <a:off x="0" y="764161"/>
            <a:ext cx="12192000" cy="36933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50" name="Picture 2" descr="소녀전선2 : 망명 12월 5일 09:00 오픈">
            <a:extLst>
              <a:ext uri="{FF2B5EF4-FFF2-40B4-BE49-F238E27FC236}">
                <a16:creationId xmlns:a16="http://schemas.microsoft.com/office/drawing/2014/main" id="{D4B3DC13-5565-CAD5-FE58-D1C1139119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8980"/>
          <a:stretch/>
        </p:blipFill>
        <p:spPr bwMode="auto">
          <a:xfrm>
            <a:off x="0" y="0"/>
            <a:ext cx="12192000" cy="755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B767320-6D27-724D-4AF9-95F01FCB2D51}"/>
              </a:ext>
            </a:extLst>
          </p:cNvPr>
          <p:cNvSpPr txBox="1"/>
          <p:nvPr/>
        </p:nvSpPr>
        <p:spPr>
          <a:xfrm>
            <a:off x="5029200" y="764161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인사이트 정리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A4CAA9-1C6F-D464-FC21-D972C1E368C3}"/>
              </a:ext>
            </a:extLst>
          </p:cNvPr>
          <p:cNvSpPr txBox="1"/>
          <p:nvPr/>
        </p:nvSpPr>
        <p:spPr>
          <a:xfrm>
            <a:off x="33866" y="1309048"/>
            <a:ext cx="12124267" cy="41073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/>
              <a:t>1. </a:t>
            </a:r>
            <a:r>
              <a:rPr lang="ko-KR" altLang="en-US" sz="1600" b="1" dirty="0"/>
              <a:t>장기적인 콘텐츠 방향성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서클</a:t>
            </a:r>
            <a:r>
              <a:rPr lang="en-US" altLang="ko-KR" sz="1600" dirty="0"/>
              <a:t>(</a:t>
            </a:r>
            <a:r>
              <a:rPr lang="ko-KR" altLang="en-US" sz="1600" dirty="0"/>
              <a:t>길드</a:t>
            </a:r>
            <a:r>
              <a:rPr lang="en-US" altLang="ko-KR" sz="1600" dirty="0"/>
              <a:t>) </a:t>
            </a:r>
            <a:r>
              <a:rPr lang="ko-KR" altLang="en-US" sz="1600" dirty="0"/>
              <a:t>콘텐츠의 </a:t>
            </a:r>
            <a:r>
              <a:rPr lang="en-US" altLang="ko-KR" sz="1600" dirty="0"/>
              <a:t>UX/UI </a:t>
            </a:r>
            <a:r>
              <a:rPr lang="ko-KR" altLang="en-US" sz="1600" dirty="0"/>
              <a:t>개선 커뮤니티 활성화 방안 제시</a:t>
            </a:r>
            <a:r>
              <a:rPr lang="en-US" altLang="ko-KR" sz="1600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600" b="1" dirty="0"/>
              <a:t>2. SRPG </a:t>
            </a:r>
            <a:r>
              <a:rPr lang="ko-KR" altLang="en-US" sz="1600" b="1" dirty="0"/>
              <a:t>장르의 잠재력 극대화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SRPG </a:t>
            </a:r>
            <a:r>
              <a:rPr lang="ko-KR" altLang="en-US" sz="1600" dirty="0"/>
              <a:t>특유의 전략성과 유저 성취감을 극대화하는 게임 시스템 보완</a:t>
            </a:r>
            <a:r>
              <a:rPr lang="en-US" altLang="ko-KR" sz="1600" dirty="0"/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타 </a:t>
            </a:r>
            <a:r>
              <a:rPr lang="ko-KR" altLang="en-US" sz="1600" dirty="0" err="1"/>
              <a:t>경쟁작</a:t>
            </a:r>
            <a:r>
              <a:rPr lang="en-US" altLang="ko-KR" sz="1600" dirty="0"/>
              <a:t>(</a:t>
            </a:r>
            <a:r>
              <a:rPr lang="ko-KR" altLang="en-US" sz="1600" dirty="0"/>
              <a:t>예</a:t>
            </a:r>
            <a:r>
              <a:rPr lang="en-US" altLang="ko-KR" sz="1600" dirty="0"/>
              <a:t>: </a:t>
            </a:r>
            <a:r>
              <a:rPr lang="ko-KR" altLang="en-US" sz="1600" dirty="0" err="1"/>
              <a:t>파이어엠블렘</a:t>
            </a:r>
            <a:r>
              <a:rPr lang="en-US" altLang="ko-KR" sz="1600" dirty="0"/>
              <a:t>)</a:t>
            </a:r>
            <a:r>
              <a:rPr lang="ko-KR" altLang="en-US" sz="1600" dirty="0"/>
              <a:t>의 사례를 참고하여 유저 친화적인 </a:t>
            </a:r>
            <a:r>
              <a:rPr lang="en-US" altLang="ko-KR" sz="1600" dirty="0"/>
              <a:t>UI/UX </a:t>
            </a:r>
            <a:r>
              <a:rPr lang="ko-KR" altLang="en-US" sz="1600" dirty="0"/>
              <a:t>개선</a:t>
            </a:r>
            <a:r>
              <a:rPr lang="en-US" altLang="ko-KR" sz="1600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600" b="1" dirty="0"/>
              <a:t>3. </a:t>
            </a:r>
            <a:r>
              <a:rPr lang="ko-KR" altLang="en-US" sz="1600" b="1" dirty="0"/>
              <a:t>지역 및 </a:t>
            </a:r>
            <a:r>
              <a:rPr lang="ko-KR" altLang="en-US" sz="1600" b="1" dirty="0" err="1"/>
              <a:t>유저층</a:t>
            </a:r>
            <a:r>
              <a:rPr lang="ko-KR" altLang="en-US" sz="1600" b="1" dirty="0"/>
              <a:t> 맞춤형 전략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주요 매출 지역</a:t>
            </a:r>
            <a:r>
              <a:rPr lang="en-US" altLang="ko-KR" sz="1600" dirty="0"/>
              <a:t>(</a:t>
            </a:r>
            <a:r>
              <a:rPr lang="ko-KR" altLang="en-US" sz="1600" dirty="0"/>
              <a:t>일본</a:t>
            </a:r>
            <a:r>
              <a:rPr lang="en-US" altLang="ko-KR" sz="1600" dirty="0"/>
              <a:t>, </a:t>
            </a:r>
            <a:r>
              <a:rPr lang="ko-KR" altLang="en-US" sz="1600" dirty="0"/>
              <a:t>한국</a:t>
            </a:r>
            <a:r>
              <a:rPr lang="en-US" altLang="ko-KR" sz="1600" dirty="0"/>
              <a:t>)</a:t>
            </a:r>
            <a:r>
              <a:rPr lang="ko-KR" altLang="en-US" sz="1600" dirty="0"/>
              <a:t>을 타겟으로 한 현지화 마케팅</a:t>
            </a:r>
            <a:r>
              <a:rPr lang="en-US" altLang="ko-KR" sz="1600" dirty="0"/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20</a:t>
            </a:r>
            <a:r>
              <a:rPr lang="ko-KR" altLang="en-US" sz="1600" dirty="0"/>
              <a:t>대 이상 남성 중심의 이용자층을 기반으로</a:t>
            </a:r>
            <a:r>
              <a:rPr lang="en-US" altLang="ko-KR" sz="1600" dirty="0"/>
              <a:t>, </a:t>
            </a:r>
            <a:r>
              <a:rPr lang="ko-KR" altLang="en-US" sz="1600" dirty="0"/>
              <a:t>연령층 특화된 이벤트 및 커뮤니티 활동 지원</a:t>
            </a:r>
            <a:r>
              <a:rPr lang="en-US" altLang="ko-KR" sz="1600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600" b="1" dirty="0"/>
              <a:t>4. </a:t>
            </a:r>
            <a:r>
              <a:rPr lang="ko-KR" altLang="en-US" sz="1600" b="1" dirty="0"/>
              <a:t>게임의 차별화 요소 강화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기존 </a:t>
            </a:r>
            <a:r>
              <a:rPr lang="en-US" altLang="ko-KR" sz="1600" dirty="0"/>
              <a:t>BM(</a:t>
            </a:r>
            <a:r>
              <a:rPr lang="ko-KR" altLang="en-US" sz="1600" dirty="0"/>
              <a:t>비즈니스 모델</a:t>
            </a:r>
            <a:r>
              <a:rPr lang="en-US" altLang="ko-KR" sz="1600" dirty="0"/>
              <a:t>) </a:t>
            </a:r>
            <a:r>
              <a:rPr lang="ko-KR" altLang="en-US" sz="1600" dirty="0"/>
              <a:t>대비 높은 가성비와 캐릭터</a:t>
            </a:r>
            <a:r>
              <a:rPr lang="en-US" altLang="ko-KR" sz="1600" dirty="0"/>
              <a:t>/</a:t>
            </a:r>
            <a:r>
              <a:rPr lang="ko-KR" altLang="en-US" sz="1600" dirty="0"/>
              <a:t>무기 성장 시스템의 강점 부각</a:t>
            </a:r>
            <a:r>
              <a:rPr lang="en-US" altLang="ko-KR" sz="1600" dirty="0"/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고 퀄리티 그래픽 같은 차별화 포인트를 적극적으로 마케팅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917415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C2264-139E-DF52-1B36-E61BB77A4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소녀전선2 : 망명 12월 5일 09:00 오픈">
            <a:extLst>
              <a:ext uri="{FF2B5EF4-FFF2-40B4-BE49-F238E27FC236}">
                <a16:creationId xmlns:a16="http://schemas.microsoft.com/office/drawing/2014/main" id="{60614B06-8F6D-8153-50FC-0C1551E457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09320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1129</TotalTime>
  <Words>1354</Words>
  <Application>Microsoft Office PowerPoint</Application>
  <PresentationFormat>와이드스크린</PresentationFormat>
  <Paragraphs>194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8" baseType="lpstr">
      <vt:lpstr>Google Sans Text</vt:lpstr>
      <vt:lpstr>Pretendard JP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정민 권</dc:creator>
  <cp:lastModifiedBy>kjm</cp:lastModifiedBy>
  <cp:revision>28</cp:revision>
  <dcterms:created xsi:type="dcterms:W3CDTF">2024-03-27T03:41:03Z</dcterms:created>
  <dcterms:modified xsi:type="dcterms:W3CDTF">2025-11-13T06:38:56Z</dcterms:modified>
</cp:coreProperties>
</file>